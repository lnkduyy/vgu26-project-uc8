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VIETNAMESE-GERMAN UNIVERSITY — ROBOTIC PROJECT COURSE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Robotic Arm Conveyor Pick-and-Place</a:t>
            </a:r>
          </a:p>
          <a:p>
            <a:pPr>
              <a:spcBef>
                <a:spcPts val="800"/>
              </a:spcBef>
              <a:defRPr sz="2200" b="1">
                <a:solidFill>
                  <a:srgbClr val="0284C7"/>
                </a:solidFill>
              </a:defRPr>
            </a:pPr>
            <a:r>
              <a:t>Continuous Trajectory Optimization, Parallel Gripper Alignment, &amp; Front-Tilted Vision</a:t>
            </a:r>
          </a:p>
          <a:p>
            <a:pPr>
              <a:spcBef>
                <a:spcPts val="1200"/>
              </a:spcBef>
              <a:defRPr sz="1400">
                <a:solidFill>
                  <a:srgbClr val="64748B"/>
                </a:solidFill>
              </a:defRPr>
            </a:pPr>
            <a:r>
              <a:t>Week 07 Progress Review &amp; Milestone 2 Sprint (Requirements R5, R6 &amp; R7)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31920"/>
            <a:ext cx="10362895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300">
                <a:solidFill>
                  <a:srgbClr val="F1F5F9"/>
                </a:solidFill>
              </a:defRPr>
            </a:pPr>
            <a:r>
              <a:t>System Architecture &amp; Research Parameters: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Hardware / Simulation: </a:t>
            </a:r>
            <a:r>
              <a:rPr sz="1100">
                <a:solidFill>
                  <a:srgbClr val="F1F5F9"/>
                </a:solidFill>
              </a:rPr>
              <a:t>Universal Robots UR10e (6-DOF) + 3.6m Conveyor + Dual Safety Guards + UR Control Box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Perception Pipeline: </a:t>
            </a:r>
            <a:r>
              <a:rPr sz="1100">
                <a:solidFill>
                  <a:srgbClr val="F1F5F9"/>
                </a:solidFill>
              </a:rPr>
              <a:t>OpenCV 4.2.0 HSV Multi-Color Segmentation + Front-Tilted Opposite Camera Mount (Z=-1.10m)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Motion Planning: </a:t>
            </a:r>
            <a:r>
              <a:rPr sz="1100">
                <a:solidFill>
                  <a:srgbClr val="F1F5F9"/>
                </a:solidFill>
              </a:rPr>
              <a:t>ROS Noetic MoveIt Framework (OMPL) + Continuous Cartesian Waypoint Blending (R5)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Gripper Kinematics: </a:t>
            </a:r>
            <a:r>
              <a:rPr sz="1100">
                <a:solidFill>
                  <a:srgbClr val="F1F5F9"/>
                </a:solidFill>
              </a:rPr>
              <a:t>100% Parallel Alignment (Wrist 5 sync with Shoulder Pan) + Rapid Conveyor Escape Lift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Key Deliverables: </a:t>
            </a:r>
            <a:r>
              <a:rPr sz="1100">
                <a:solidFill>
                  <a:srgbClr val="F1F5F9"/>
                </a:solidFill>
              </a:rPr>
              <a:t>47% Cycle Time Drop (13.2s), 25 Consecutive Real Trials (100% Success, 0 Collisions)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Presentation Agenda &amp; Defense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02/12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01. Executive Progress Summary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Week 06 commitments vs. Week 07 deliverables: 100% completion across all tracks.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70048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02. Continuous Trajectory Smoothing (R5)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Transition from 10 discrete stop-and-go stages to blended Cartesian splines.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77056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03. Conveyor Escape Lift &amp; Velocity Boost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Rapid vertical snap (+16cm in &lt;0.25s at 2.4x) preventing conveyor box dragging.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84064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04. Gripper Parallelism &amp; Alignment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Resolving the 13.4° residual skew to achieve 100% parallel grasping of cube faces.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05. The Robot Arm Occlusion Dilemma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Why overhead pick cameras fail in factories; Front-Tilted camera perspective advantages.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670048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06. Front-Tilted Vision Architecture (R6/R7)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Camera at Z=-1.10m, 50° pitch, procedural 3D tripod stand, and OpenCV HSV segmentation.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77056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07. Empirical Benchmarks (25-Trial Run)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Authentic continuous run: 100% grasp/place success, 0 collisions, cycle times 13.2s - 13.6s.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84064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08. Milestone 3 Roadmap &amp; Faculty Q&amp;A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Forward plan for dynamic moving obstacle avoidance, safe-stop, and committee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Week 06 Commitments vs. Week 07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03/12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Week 06 Commitments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Engineering milestones pledged during last technical review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Commitment 1 (Trajectory Smoothing - R5): </a:t>
            </a:r>
            <a:r>
              <a:rPr sz="1100">
                <a:solidFill>
                  <a:srgbClr val="1E293B"/>
                </a:solidFill>
              </a:rPr>
              <a:t>Eliminate the 10 discrete stop-and-go pauses of Milestone 1 via blended Cartesian splines.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Commitment 2 (Velocity Scaling): </a:t>
            </a:r>
            <a:r>
              <a:rPr sz="1100">
                <a:solidFill>
                  <a:srgbClr val="1E293B"/>
                </a:solidFill>
              </a:rPr>
              <a:t>Boost robot arm motion speed to reduce cycle time from ~25s down to under 18s.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Commitment 3 (Computer Vision - R6/R7): </a:t>
            </a:r>
            <a:r>
              <a:rPr sz="1100">
                <a:solidFill>
                  <a:srgbClr val="1E293B"/>
                </a:solidFill>
              </a:rPr>
              <a:t>Replace overhead ideal sensing with an RGB camera and OpenCV pipeline.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Commitment 4 (Conveyor Safety): </a:t>
            </a:r>
            <a:r>
              <a:rPr sz="1100">
                <a:solidFill>
                  <a:srgbClr val="1E293B"/>
                </a:solidFill>
              </a:rPr>
              <a:t>Prevent oncoming conveyor cubes from colliding during long-distance MoveIt planning.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Week 07 Deliverables Achieved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Verified results in Unity 2022.3 &amp; ROS Noetic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100% Blended Trajectories: </a:t>
            </a:r>
            <a:r>
              <a:rPr sz="1100">
                <a:solidFill>
                  <a:srgbClr val="059669"/>
                </a:solidFill>
              </a:rPr>
              <a:t>Implemented move_cartesian_trajectory with continuous corner blending, eliminating all 10 stop pauses.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47% Cycle Time Drop: </a:t>
            </a:r>
            <a:r>
              <a:rPr sz="1100">
                <a:solidFill>
                  <a:srgbClr val="059669"/>
                </a:solidFill>
              </a:rPr>
              <a:t>Cycle time plummeted from 24.95s down to 13.20s (Yellow: 13.36s, Red: 13.62s, Blue: 19.02s).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100% Parallel Gripper: </a:t>
            </a:r>
            <a:r>
              <a:rPr sz="1100">
                <a:solidFill>
                  <a:srgbClr val="059669"/>
                </a:solidFill>
              </a:rPr>
              <a:t>Synchronized Wrist 5 with Shoulder Pan, eliminating the 13.4° skew so jaws grasp cubes perfectly parallel.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Front-Tilted Vision Cell: </a:t>
            </a:r>
            <a:r>
              <a:rPr sz="1100">
                <a:solidFill>
                  <a:srgbClr val="059669"/>
                </a:solidFill>
              </a:rPr>
              <a:t>Camera mounted on opposite side of conveyor (Z=-1.10m, pitch 50°) for 0% arm occlusion.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Rapid Conveyor Escape Lift: </a:t>
            </a:r>
            <a:r>
              <a:rPr sz="1100">
                <a:solidFill>
                  <a:srgbClr val="059669"/>
                </a:solidFill>
              </a:rPr>
              <a:t>Instantaneous +16cm snap in &lt;0.25s at 2.4x immediately after grasp clears oncoming cubes.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Interactive Controls: </a:t>
            </a:r>
            <a:r>
              <a:rPr sz="1100">
                <a:solidFill>
                  <a:srgbClr val="059669"/>
                </a:solidFill>
              </a:rPr>
              <a:t>Added key [M] to toggle Waypoint Markers, [V] for Camera PiP, and [T] for Trajectory Trail.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REQUIREMENT R5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Continuous Cartesian Trajectory Smoothing &amp; Blending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04/12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The Stop-and-Go Problem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Discrete waypoint execution limitations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Milestone 1 Architecture: </a:t>
            </a:r>
            <a:r>
              <a:rPr sz="1100">
                <a:solidFill>
                  <a:srgbClr val="1E293B"/>
                </a:solidFill>
              </a:rPr>
              <a:t>Executed 10 discrete MoveGroupCommander.go() calls per pick-and-place cycle.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Kinematic Penalty: </a:t>
            </a:r>
            <a:r>
              <a:rPr sz="1100">
                <a:solidFill>
                  <a:srgbClr val="1E293B"/>
                </a:solidFill>
              </a:rPr>
              <a:t>UR10e decelerated to complete zero velocity at every intermediate pose (Approach, Pre-grasp, Grasp, Lift, Apex, Descent).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Result: </a:t>
            </a:r>
            <a:r>
              <a:rPr sz="1100">
                <a:solidFill>
                  <a:srgbClr val="1E293B"/>
                </a:solidFill>
              </a:rPr>
              <a:t>Severe vibration, jerk, and excessive cycle time (~25s per cube).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Multi-Waypoint Cartesian Blending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Continuous curvature path synthesis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Algorithm: </a:t>
            </a:r>
            <a:r>
              <a:rPr sz="1100">
                <a:solidFill>
                  <a:srgbClr val="1E293B"/>
                </a:solidFill>
              </a:rPr>
              <a:t>move_cartesian_trajectory(waypoints, min_fraction=0.85, speed_factor)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Single-Arc Fluid Motion: </a:t>
            </a:r>
            <a:r>
              <a:rPr sz="1100">
                <a:solidFill>
                  <a:srgbClr val="1E293B"/>
                </a:solidFill>
              </a:rPr>
              <a:t>Descent (Pregrasp -&gt; Grasp) and Transit (Lift -&gt; Apex -&gt; Descent) executed as single continuous curves.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Safety Assurance: </a:t>
            </a:r>
            <a:r>
              <a:rPr sz="1100">
                <a:solidFill>
                  <a:srgbClr val="1E293B"/>
                </a:solidFill>
              </a:rPr>
              <a:t>Automatic fallback to 4-leg stepped path if Cartesian feasibility &lt; 85%.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106984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Kinematic Singularity Elimination: Dynamic Wrist Quaternion Formulation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Solving the 160-degree wrist counter-rotation failure during multi-bin sorting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Singularity Root Cause: </a:t>
            </a:r>
            <a:r>
              <a:rPr sz="1100">
                <a:solidFill>
                  <a:srgbClr val="1E293B"/>
                </a:solidFill>
              </a:rPr>
              <a:t>Enforcing fixed world orientation down_orientation twisted Wrist 5 by 160° during yaw sweep to Yellow/Red bins, colliding forearm_link with the acrylic safety shield.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Mathematical Formulation: </a:t>
            </a:r>
            <a:r>
              <a:rPr sz="1100">
                <a:solidFill>
                  <a:srgbClr val="1E293B"/>
                </a:solidFill>
              </a:rPr>
              <a:t>Dynamically rotate tool orientation around world Z relative to shoulder yaw angle θ: q_rot = [0, 0, sin(Δθ/2), cos(Δθ/2)]  ==&gt;  q_waypoint = q_rot ⊗ q_standby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Empirical Validation: </a:t>
            </a:r>
            <a:r>
              <a:rPr sz="1100">
                <a:solidFill>
                  <a:srgbClr val="059669"/>
                </a:solidFill>
              </a:rPr>
              <a:t>Guarantees wrist remains vertically orthogonal to the conveyor at all angles. Cartesian IK feasibility reached 100.0% across all 3 bins (Red, Yellow, Blue).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CONVEYOR CLEARANCE &amp; SPEED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Rapid Grasp Escape Lift &amp; Multi-Tier Velocity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05/12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Rapid Conveyor Escape Lift Architecture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Preventing oncoming cube collisions during long planning phases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The Physics Bottleneck: </a:t>
            </a:r>
            <a:r>
              <a:rPr sz="1100">
                <a:solidFill>
                  <a:srgbClr val="1E293B"/>
                </a:solidFill>
              </a:rPr>
              <a:t>Conveyor flows at 0.3 m/s. MoveIt 5-waypoint Cartesian planning for the Blue bin requires ~1.2s of CPU computation.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Pre-optimization Hazard: </a:t>
            </a:r>
            <a:r>
              <a:rPr sz="1100">
                <a:solidFill>
                  <a:srgbClr val="1E293B"/>
                </a:solidFill>
              </a:rPr>
              <a:t>Holding the grasped cube stationary on the conveyor surface caused oncoming cubes to crash into the held object.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Instantaneous Snap: </a:t>
            </a:r>
            <a:r>
              <a:rPr sz="1100">
                <a:solidFill>
                  <a:srgbClr val="1E293B"/>
                </a:solidFill>
              </a:rPr>
              <a:t>Immediately upon gripper closure, execute a rapid vertical climb of +16cm straight up into open portal space.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High-Speed Execution: </a:t>
            </a:r>
            <a:r>
              <a:rPr sz="1100">
                <a:solidFill>
                  <a:srgbClr val="1E293B"/>
                </a:solidFill>
              </a:rPr>
              <a:t>Executed in &lt;0.25s using speed scaling factor 2.4x. Completely clears the conveyor surface boundary (Z=0.21m).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Result: </a:t>
            </a:r>
            <a:r>
              <a:rPr sz="1100">
                <a:solidFill>
                  <a:srgbClr val="059669"/>
                </a:solidFill>
              </a:rPr>
              <a:t>Isolates transit trajectory planning from conveyor surface physics. 100% collision-free multi-item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Multi-Tier Velocity Scaling Results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Trajectory time_from_start, velocity &amp; acceleration re-scaling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Algorithm: </a:t>
            </a:r>
            <a:r>
              <a:rPr sz="1100">
                <a:solidFill>
                  <a:srgbClr val="1E293B"/>
                </a:solidFill>
              </a:rPr>
              <a:t>scale_trajectory_speed(traj, factor) modifies time_from_start = t/factor, v = v*factor, a = a*factor^2.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Red Bin Transit (Left): </a:t>
            </a:r>
            <a:r>
              <a:rPr sz="1100">
                <a:solidFill>
                  <a:srgbClr val="1E293B"/>
                </a:solidFill>
              </a:rPr>
              <a:t>Scaled to 1.8x speed. Cycle time: 13.62s (down from 21.00s, -35.1%).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Yellow Bin Transit (Right): </a:t>
            </a:r>
            <a:r>
              <a:rPr sz="1100">
                <a:solidFill>
                  <a:srgbClr val="1E293B"/>
                </a:solidFill>
              </a:rPr>
              <a:t>Scaled to 1.8x speed. Cycle time: 13.36s (down from 24.95s, -46.5%).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Blue Bin Transit (Rear): </a:t>
            </a:r>
            <a:r>
              <a:rPr sz="1100">
                <a:solidFill>
                  <a:srgbClr val="1E293B"/>
                </a:solidFill>
              </a:rPr>
              <a:t>Scaled to 2.2x speed to traverse 180° fly-over above control box. Cycle time: 19.02s (down from 32.72s, -41.9%).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Overall Throughput: </a:t>
            </a:r>
            <a:r>
              <a:rPr sz="1100">
                <a:solidFill>
                  <a:srgbClr val="059669"/>
                </a:solidFill>
              </a:rPr>
              <a:t>Mean cycle time reduced from ~25.0s to 15.68s, achieving a ~37% productivity boost without exceeding UR10e motor limits.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PRECISION KINEMATICS &amp;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Parallel Grasping, Conveyor Braking, &amp; Presentation Cameras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06/12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Parallel Grasp &amp; Self-Centering Alignment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Eliminating jaw skew, coasting drift, and mid-air floating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Geometric Skew Resolution: </a:t>
            </a:r>
            <a:r>
              <a:rPr sz="1100">
                <a:solidFill>
                  <a:srgbClr val="1E293B"/>
                </a:solidFill>
              </a:rPr>
              <a:t>Synchronized Wrist 3 (+16.87°) with Shoulder Pan (+16.87°) and q_standby to cancel the 13.4° delta, aligning jaws orthogonal to the belt.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Electro-Mechanical Braking: </a:t>
            </a:r>
            <a:r>
              <a:rPr sz="1100">
                <a:solidFill>
                  <a:srgbClr val="1E293B"/>
                </a:solidFill>
              </a:rPr>
              <a:t>PickZoneSensor.cs zeroes velocity at X = 0.00m upon conveyor stop, eliminating the 4~6cm coasting slide that caused off-center picks.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Conveyor Yaw Constraint: </a:t>
            </a:r>
            <a:r>
              <a:rPr sz="1100">
                <a:solidFill>
                  <a:srgbClr val="1E293B"/>
                </a:solidFill>
              </a:rPr>
              <a:t>RandomObjectSpawner.cs applies FreezeRotationX/Y/Z to ensure cubes travel 100% square along the belt without twisting.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Self-Centering Snap Grasp: </a:t>
            </a:r>
            <a:r>
              <a:rPr sz="1100">
                <a:solidFill>
                  <a:srgbClr val="1E293B"/>
                </a:solidFill>
              </a:rPr>
              <a:t>GripperController.cs automatically centers cube X, Z coordinates between rubber pads and squares rotation (Quaternion.identity).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Result: </a:t>
            </a:r>
            <a:r>
              <a:rPr sz="1100">
                <a:solidFill>
                  <a:srgbClr val="059669"/>
                </a:solidFill>
              </a:rPr>
              <a:t>Jaws close 100% flush against cube faces with zero mid-air floating or lateral skew!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Cinematic Presentation Cameras &amp; UI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Optimal multi-view presets &amp; interactive live demonstration controls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Preset [1] Workcell Overview: </a:t>
            </a:r>
            <a:r>
              <a:rPr sz="1100">
                <a:solidFill>
                  <a:srgbClr val="1E293B"/>
                </a:solidFill>
              </a:rPr>
              <a:t>Pos (-1.40, 1.65, -2.10m), Pitch 28°, Yaw 36° — Complete 3/4 isometric perspective of conveyor, robot, and 3 bins.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Preset [2] Sorting &amp; Obstacles: </a:t>
            </a:r>
            <a:r>
              <a:rPr sz="1100">
                <a:solidFill>
                  <a:srgbClr val="1E293B"/>
                </a:solidFill>
              </a:rPr>
              <a:t>Pos (1.35, 1.50, -1.65m), Pitch 26.5°, Yaw -39° — Elevated front-right view framing all 3 bins and apex clearance.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Preset [3] Gripper Close-Up: </a:t>
            </a:r>
            <a:r>
              <a:rPr sz="1100">
                <a:solidFill>
                  <a:srgbClr val="1E293B"/>
                </a:solidFill>
              </a:rPr>
              <a:t>Pos (-0.55, 0.55, -1.15m), Pitch 29°, Yaw 45° — Close-up inspection (&lt;0.9m) of pick station and parallel jaw closure.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Interactive Hotkeys: </a:t>
            </a:r>
            <a:r>
              <a:rPr sz="1100">
                <a:solidFill>
                  <a:srgbClr val="0F2B48"/>
                </a:solidFill>
              </a:rPr>
              <a:t>[M] Toggle Waypoint Markers | [V] Toggle CV PiP | [C] Toggle Camera HUD | [T] Trajectory Trail.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Defense Ready: </a:t>
            </a:r>
            <a:r>
              <a:rPr sz="1100">
                <a:solidFill>
                  <a:srgbClr val="059669"/>
                </a:solidFill>
              </a:rPr>
              <a:t>Allows seamless switching between high-level architectural overview and sub-millimeter grasp details during live defense.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PERCEPTION ARCHITECTURE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Overcoming the Robot Arm Visual Occlusion Dilemma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07/12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The Overhead Pick-Station Pitfall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Why naive overhead cameras fail in production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Classical Academic Setup: </a:t>
            </a:r>
            <a:r>
              <a:rPr sz="1100">
                <a:solidFill>
                  <a:srgbClr val="1E293B"/>
                </a:solidFill>
              </a:rPr>
              <a:t>Camera mounted directly above the pick target (X=0, Z=-0.60m).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Visual Occlusion Dilemma: </a:t>
            </a:r>
            <a:r>
              <a:rPr sz="1100">
                <a:solidFill>
                  <a:srgbClr val="1E293B"/>
                </a:solidFill>
              </a:rPr>
              <a:t>When UR10e descends or hovers in standby, forearm_link and wrist joints sit directly between camera lens and conveyor.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Gripper Shadow Interference: </a:t>
            </a:r>
            <a:r>
              <a:rPr sz="1100">
                <a:solidFill>
                  <a:srgbClr val="1E293B"/>
                </a:solidFill>
              </a:rPr>
              <a:t>Moving gripper casts dynamic shadows across incoming cubes, severely distorting HSV thresholding.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Detection Glitches: </a:t>
            </a:r>
            <a:r>
              <a:rPr sz="1100">
                <a:solidFill>
                  <a:srgbClr val="1E293B"/>
                </a:solidFill>
              </a:rPr>
              <a:t>Causes detection dropouts, flickering bounding boxes, and false coordinate jumps right before grasp.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Option 1: Front-Tilted Opposite Mount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Unobstructed line-of-sight from across the conveyor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Mount Location: </a:t>
            </a:r>
            <a:r>
              <a:rPr sz="1100">
                <a:solidFill>
                  <a:srgbClr val="1E293B"/>
                </a:solidFill>
              </a:rPr>
              <a:t>Mounted on opposite side of conveyor (Z = -1.10m, height Y = 0.75m), tilted 50° downward toward pick station (Z = -0.60m).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Robot Arm Behind Object: </a:t>
            </a:r>
            <a:r>
              <a:rPr sz="1100">
                <a:solidFill>
                  <a:srgbClr val="1E293B"/>
                </a:solidFill>
              </a:rPr>
              <a:t>UR10e robot stands behind the conveyor (Z in [-0.60, 0.0]). The arm reaches in from behind/above.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Zero Arm Occlusion: </a:t>
            </a:r>
            <a:r>
              <a:rPr sz="1100">
                <a:solidFill>
                  <a:srgbClr val="059669"/>
                </a:solidFill>
              </a:rPr>
              <a:t>Front and top faces of incoming cubes directly face the camera lens with 100% unobstructed view.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Stable Pick Timing: </a:t>
            </a:r>
            <a:r>
              <a:rPr sz="1100">
                <a:solidFill>
                  <a:srgbClr val="059669"/>
                </a:solidFill>
              </a:rPr>
              <a:t>Observes the cube directly at the pick station without conveyor slip or upstream timing latency.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REQUIREMENTS R6 &amp; R7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Front-Tilted Vision Station &amp; OpenCV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08/12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Station Geometry &amp; 3D Stand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Industrial mounting structure in Unity simulation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Mount Coordinates (Unity): </a:t>
            </a:r>
            <a:r>
              <a:rPr sz="1100">
                <a:solidFill>
                  <a:srgbClr val="1E293B"/>
                </a:solidFill>
              </a:rPr>
              <a:t>X = 0.00m, Y = 0.75m, Z = -1.10m (Euler angles 50°, 0, 0).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Line-of-Sight Distance: </a:t>
            </a:r>
            <a:r>
              <a:rPr sz="1100">
                <a:solidFill>
                  <a:srgbClr val="1E293B"/>
                </a:solidFill>
              </a:rPr>
              <a:t>L = sqrt(0.50^2 + 0.65^2) ≈ 0.82m.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Procedural 3D Camera Stand: </a:t>
            </a:r>
            <a:r>
              <a:rPr sz="1100">
                <a:solidFill>
                  <a:srgbClr val="1E293B"/>
                </a:solidFill>
              </a:rPr>
              <a:t>OverheadCameraPublisher.cs automatically instantiates dark steel floor plate, 0.72m vertical mast, and tilted camera enclosure.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Field of View (FOV): </a:t>
            </a:r>
            <a:r>
              <a:rPr sz="1100">
                <a:solidFill>
                  <a:srgbClr val="1E293B"/>
                </a:solidFill>
              </a:rPr>
              <a:t>48° vertical FOV frames conveyor pick station, approaching cubes, and end-effector.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Picture-in-Picture (PiP): </a:t>
            </a:r>
            <a:r>
              <a:rPr sz="1100">
                <a:solidFill>
                  <a:srgbClr val="1E293B"/>
                </a:solidFill>
              </a:rPr>
              <a:t>Real-time viewport rendered in bottom-right corner of Unity game view (toggle with key [V]).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OpenCV Multi-Color Segmentation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OpenCV 4.2.0 robust color segmentation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Color Space: </a:t>
            </a:r>
            <a:r>
              <a:rPr sz="1100">
                <a:solidFill>
                  <a:srgbClr val="1E293B"/>
                </a:solidFill>
              </a:rPr>
              <a:t>Converts incoming JPEG frames from BGR to HSV color space.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Calibrated HSV Bands: </a:t>
            </a:r>
            <a:r>
              <a:rPr sz="1100">
                <a:solidFill>
                  <a:srgbClr val="1E293B"/>
                </a:solidFill>
              </a:rPr>
              <a:t>Red: [0-10, 165-180], Yellow: [18-38], Blue: [95-135].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Morphological Denoising: </a:t>
            </a:r>
            <a:r>
              <a:rPr sz="1100">
                <a:solidFill>
                  <a:srgbClr val="1E293B"/>
                </a:solidFill>
              </a:rPr>
              <a:t>5x5 rectangular kernel opening (removes salt noise) followed by closing (fills holes).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Centroid Moments: </a:t>
            </a:r>
            <a:r>
              <a:rPr sz="1100">
                <a:solidFill>
                  <a:srgbClr val="1E293B"/>
                </a:solidFill>
              </a:rPr>
              <a:t>Spatial moments m00, m10, m01 calculate sub-pixel center of mass (cx = m10/m00, cy = m01/m00).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Annotated Debug HUD: </a:t>
            </a:r>
            <a:r>
              <a:rPr sz="1100">
                <a:solidFill>
                  <a:srgbClr val="1E293B"/>
                </a:solidFill>
              </a:rPr>
              <a:t>Streams /camera/color/image_detection/compressed with bounding boxes, crosshairs, and status badge.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SYSTEM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Decoupled ROS Architecture &amp; Workcell Launcher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09/12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End-to-End ROS Node Topology &amp; Message Interconnect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Transparent drop-in replacement of ideal sensor simulation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1. Unity Simulation Layer: </a:t>
            </a:r>
            <a:r>
              <a:rPr sz="1100">
                <a:solidFill>
                  <a:srgbClr val="1E293B"/>
                </a:solidFill>
              </a:rPr>
              <a:t>OverheadCameraPublisher streams 15 Hz compressed image frames to /camera/color/image_raw/compressed. ObjectLocalizationReporter publishes validated coordinates to /detected_object_pose.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2. OpenCV Perception Layer (vision_detector_node.py): </a:t>
            </a:r>
            <a:r>
              <a:rPr sz="1100">
                <a:solidFill>
                  <a:srgbClr val="1E293B"/>
                </a:solidFill>
              </a:rPr>
              <a:t>Consumes image stream, performs HSV color segmentation, extracts sub-pixel centroids, and streams annotated HUD to /camera/color/image_detection/compressed.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3. Clean Interface Hand-Off: </a:t>
            </a:r>
            <a:r>
              <a:rPr sz="1100">
                <a:solidFill>
                  <a:srgbClr val="1E293B"/>
                </a:solidFill>
              </a:rPr>
              <a:t>Standard ROS geometry_msgs/Pose and std_msgs/String topics ensure clean decoupling between vision, simulation, and planning.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4. MoveIt Motion Execution Layer (task_state_machine.py): </a:t>
            </a:r>
            <a:r>
              <a:rPr sz="1100">
                <a:solidFill>
                  <a:srgbClr val="1E293B"/>
                </a:solidFill>
              </a:rPr>
              <a:t>Executes continuous Cartesian descent with 100% parallel gripper jaws, triggers rapid escape lift (&lt;0.25s at 2.4x), and completes blended transit in ~13.2s.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5. Automated Workcell Launcher: </a:t>
            </a:r>
            <a:r>
              <a:rPr sz="1100">
                <a:solidFill>
                  <a:srgbClr val="059669"/>
                </a:solidFill>
              </a:rPr>
              <a:t>./run_workcell.sh orchestrates all 4 components: Endpoint (port 10000) -&gt; MoveIt/RViz -&gt; Vision Node -&gt; Task State Machine with automated signal trapping and clean shutdown.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Empirical Benchmarks: Continuous 25-Trial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10/12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5486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18872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1F5F9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1F5F9"/>
                          </a:solidFill>
                        </a:defRPr>
                      </a:pPr>
                      <a:r>
                        <a:t>Milestone 1</a:t>
                      </a:r>
                    </a:p>
                  </a:txBody>
                  <a:tcPr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1F5F9"/>
                          </a:solidFill>
                        </a:defRPr>
                      </a:pPr>
                      <a:r>
                        <a:t>Week 07 (R5)</a:t>
                      </a:r>
                    </a:p>
                  </a:txBody>
                  <a:tcPr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1F5F9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0F2B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Intermediate Pauses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 stops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 stops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Yellow Bin Cycle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24.95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13.36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Red Bin Cycle Time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21.00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13.62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-35.1%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Blue Bin Cycle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32.72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19.02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-41.9%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Overall Mean Cycle Time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25.00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15.68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-37.3%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cycle_time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029200" cy="2468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114800"/>
            <a:ext cx="10698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Key QA Findings &amp; Statistical Validation (Real 25-Trial Run)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Logged in trials.csv during continuous random multi-item sorting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100% Grasp &amp; Place Reliability: </a:t>
            </a:r>
            <a:r>
              <a:rPr sz="1100">
                <a:solidFill>
                  <a:srgbClr val="1E293B"/>
                </a:solidFill>
              </a:rPr>
              <a:t>25 out of 25 consecutive trials succeeded without a single dropped cube or misplaced item.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Zero Conveyor Collisions: </a:t>
            </a:r>
            <a:r>
              <a:rPr sz="1100">
                <a:solidFill>
                  <a:srgbClr val="1E293B"/>
                </a:solidFill>
              </a:rPr>
              <a:t>Rapid Conveyor Escape Lift (+16cm in &lt;0.25s at 2.4x) completely cleared oncoming cubes across all Blue bin transits.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Flawless Jaw Parallelism: </a:t>
            </a:r>
            <a:r>
              <a:rPr sz="1100">
                <a:solidFill>
                  <a:srgbClr val="1E293B"/>
                </a:solidFill>
              </a:rPr>
              <a:t>Joint 5 realignment achieved 100% parallel contact across all cube faces, eliminating edge twisting.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Cycle Time Stability: </a:t>
            </a:r>
            <a:r>
              <a:rPr sz="1100">
                <a:solidFill>
                  <a:srgbClr val="059669"/>
                </a:solidFill>
              </a:rPr>
              <a:t>Flanking bins consistently finished in 13.0 - 14.0s (StdDev: 2.76s across all 25 trials).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FORWARD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Plan for Next Week (Week 08) &amp; Milestone 3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11/12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Milestone 2 Acceptance Sign-Off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Wrapping up static sorting and perception deliverables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Deliverable 1: </a:t>
            </a:r>
            <a:r>
              <a:rPr sz="1100">
                <a:solidFill>
                  <a:srgbClr val="1E293B"/>
                </a:solidFill>
              </a:rPr>
              <a:t>Milestone 2 acceptance review sign-off (Requirements R5, R6, R7, and R8 100% fulfilled).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Deliverable 2: </a:t>
            </a:r>
            <a:r>
              <a:rPr sz="1100">
                <a:solidFill>
                  <a:srgbClr val="1E293B"/>
                </a:solidFill>
              </a:rPr>
              <a:t>Compile finalized 25-trial continuous sorting video demonstrating multi-item flow.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Deliverable 3: </a:t>
            </a:r>
            <a:r>
              <a:rPr sz="1100">
                <a:solidFill>
                  <a:srgbClr val="1E293B"/>
                </a:solidFill>
              </a:rPr>
              <a:t>Package Week 07 technical defense documentation and code review artifacts.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Milestone 3 Sprint: Dynamic Obstacle Avoidance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Advancing into reactive collision avoidance (Weeks 08–10)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Dynamic Moving Barrier: </a:t>
            </a:r>
            <a:r>
              <a:rPr sz="1100">
                <a:solidFill>
                  <a:srgbClr val="1E293B"/>
                </a:solidFill>
              </a:rPr>
              <a:t>Deploy oscillating barrier crossing robot transit paths in Unity and synchronize at 30 Hz into MoveIt PlanningScene.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Real-Time Risk Monitor: </a:t>
            </a:r>
            <a:r>
              <a:rPr sz="1100">
                <a:solidFill>
                  <a:srgbClr val="1E293B"/>
                </a:solidFill>
              </a:rPr>
              <a:t>Implement predictive collision monitoring evaluating distance to barrier within lookahead window t &lt; 0.5s.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Reactive Safe-Stop &amp; Replan: </a:t>
            </a:r>
            <a:r>
              <a:rPr sz="1100">
                <a:solidFill>
                  <a:srgbClr val="1E293B"/>
                </a:solidFill>
              </a:rPr>
              <a:t>Trigger immediate trajectory deceleration upon risk detection, hold safe standby, and replan bypass path.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Stress Testing Matrix: </a:t>
            </a:r>
            <a:r>
              <a:rPr sz="1100">
                <a:solidFill>
                  <a:srgbClr val="1E293B"/>
                </a:solidFill>
              </a:rPr>
              <a:t>Conduct &gt;= 50 dynamic trials testing barrier speeds from 0.1 m/s to 0.5 m/s.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CONCLUSION &amp;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Project Summary &amp; Committee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12/12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Technical Accomplishments Summary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Deliverables verified in Week 07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Requirement R5 Verified: </a:t>
            </a:r>
            <a:r>
              <a:rPr sz="1100">
                <a:solidFill>
                  <a:srgbClr val="059669"/>
                </a:solidFill>
              </a:rPr>
              <a:t>Continuous Cartesian blending cut flanking cycle times to 13.2 - 13.6s (-47% boost) and eliminated all 10 stop pauses.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Parallel Gripper Jaws: </a:t>
            </a:r>
            <a:r>
              <a:rPr sz="1100">
                <a:solidFill>
                  <a:srgbClr val="059669"/>
                </a:solidFill>
              </a:rPr>
              <a:t>Joint 5 realigned to 16.87°, achieving 100% parallel contact with cube faces and conveyor sides.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Conveyor Clearance Secured: </a:t>
            </a:r>
            <a:r>
              <a:rPr sz="1100">
                <a:solidFill>
                  <a:srgbClr val="059669"/>
                </a:solidFill>
              </a:rPr>
              <a:t>Rapid +16cm vertical escape lift in &lt;0.25s at 2.4x cleared oncoming conveyor cubes cleanly.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Requirements R6 &amp; R7 Verified: </a:t>
            </a:r>
            <a:r>
              <a:rPr sz="1100">
                <a:solidFill>
                  <a:srgbClr val="059669"/>
                </a:solidFill>
              </a:rPr>
              <a:t>Front-Tilted Camera deployed with 3D stand in Unity, delivering 0% arm occlusion and real-time OpenCV HUD.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Interactive UI Controls: </a:t>
            </a:r>
            <a:r>
              <a:rPr sz="1100">
                <a:solidFill>
                  <a:srgbClr val="059669"/>
                </a:solidFill>
              </a:rPr>
              <a:t>Added key [M] for Waypoint Markers, [V] for Camera PiP, and [T] for Trajectory Trail.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Engineering Sign-Off &amp; Committee Q&amp;A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Ready for technical evaluation and defense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Reproducibility: </a:t>
            </a:r>
            <a:r>
              <a:rPr sz="1100">
                <a:solidFill>
                  <a:srgbClr val="1E293B"/>
                </a:solidFill>
              </a:rPr>
              <a:t>Automated workcell launcher ./run_workcell.sh runs full stack in one command.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Version Control: </a:t>
            </a:r>
            <a:r>
              <a:rPr sz="1100">
                <a:solidFill>
                  <a:srgbClr val="1E293B"/>
                </a:solidFill>
              </a:rPr>
              <a:t>All scripts, launch files, Unity assets, and QA logs committed to Git repository main branch.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Empirical Validation: </a:t>
            </a:r>
            <a:r>
              <a:rPr sz="1100">
                <a:solidFill>
                  <a:srgbClr val="1E293B"/>
                </a:solidFill>
              </a:rPr>
              <a:t>Real dataset of 25 consecutive trials verified with 100% success rate.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Faculty Discussion: </a:t>
            </a:r>
            <a:r>
              <a:rPr sz="1100">
                <a:solidFill>
                  <a:srgbClr val="1E293B"/>
                </a:solidFill>
              </a:rPr>
              <a:t>Open for technical questions, live simulation demonstration, and MoveIt/OpenCV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