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9728" cy="43891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188720"/>
            <a:ext cx="102412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200" b="1">
                <a:solidFill>
                  <a:srgbClr val="0284C7"/>
                </a:solidFill>
              </a:defRPr>
            </a:pPr>
            <a:r>
              <a:t>INDUSTRY 4.0 AUTOMATED LOGISTICS &amp; ROBOTICS SOLUTION</a:t>
            </a:r>
          </a:p>
          <a:p>
            <a:pPr>
              <a:spcAft>
                <a:spcPts val="1600"/>
              </a:spcAft>
              <a:defRPr sz="3200" b="1">
                <a:solidFill>
                  <a:srgbClr val="F1F5F9"/>
                </a:solidFill>
              </a:defRPr>
            </a:pPr>
            <a:r>
              <a:t>Automated Conveyor Sorting System with UR10e</a:t>
            </a:r>
            <a:br/>
            <a:r>
              <a:t>&amp; Smart Machine Vision</a:t>
            </a:r>
          </a:p>
          <a:p>
            <a:pPr>
              <a:spcAft>
                <a:spcPts val="2800"/>
              </a:spcAft>
              <a:defRPr sz="1400">
                <a:solidFill>
                  <a:srgbClr val="94A3B8"/>
                </a:solidFill>
              </a:defRPr>
            </a:pPr>
            <a:r>
              <a:t>Project Progress Report (Week 07) — Client &amp; Executive Briefing</a:t>
            </a:r>
            <a:br/>
            <a:r>
              <a:t>Continuous Wave Motion (+47% Throughput) • Self-Centering Gripper • Zero-Blind-Spot Inspection</a:t>
            </a:r>
          </a:p>
          <a:p>
            <a:pPr>
              <a:defRPr sz="1200" b="1">
                <a:solidFill>
                  <a:srgbClr val="F1F5F9"/>
                </a:solidFill>
              </a:defRPr>
            </a:pPr>
            <a:r>
              <a:t>Engineering Team: Robotic Project Team — Vietnamese-German University (VGU)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EXECUTIVE ROADMAP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Client Presentation Outline &amp; Value Delivered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01. Executive Progress Summary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Core milestones achieved from laboratory prototype to standardized industrial cell.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670048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670048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807208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02. Smooth Fluid Motion Architecture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100% elimination of stop-and-go jerks, protecting motor and gearbox longevity.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877056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877056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014216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03. Rapid Escape Lift &amp; Flow Acceleration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0.2s vertical lift resolving queue collisions and accelerating sorting speed.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084064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5084064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5221224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04. Self-Centering Grasp &amp; Camera HUD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Precision electro-mechanical braking at X=0m, auto-squaring gripper pads, 3 views.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1463040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1600200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05. Eliminating Arm Blind Spots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Overcoming overhead ceiling camera obstruction via innovative mirrored tilted perspective.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2670048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670048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46520" y="2807208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06. Industrial Tilted Inspection Station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Rigid steel tower, simultaneous dual-face capture, and real-time PiP monitoring.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3877056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877056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4014216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07. Empirical 25-Trial Verification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Field-proven performance: 47% speedup, 100% success rate, 0 collision incidents.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5084064"/>
            <a:ext cx="5212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5084064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5221224"/>
            <a:ext cx="475488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08. Delivery Roadmap to Milestone 2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Week 08 high-load stress testing, Week 09 runbook finalization, Week 10 defense.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EXECUTIVE SUMMARY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Quantum Leap in Performance &amp; Robustness (Week 06 -&gt; Week 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03/12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Challenges Identified in Earlier Phase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Operational limitations highlighted during previous reviews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Sluggish Sorting Speed: </a:t>
            </a:r>
            <a:r>
              <a:rPr sz="1100">
                <a:solidFill>
                  <a:srgbClr val="1E293B"/>
                </a:solidFill>
              </a:rPr>
              <a:t>The robot paused at 10 discrete checkpoints per cycle, stretching processing time to ~25 seconds per part.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Tailgating Hazard: </a:t>
            </a:r>
            <a:r>
              <a:rPr sz="1100">
                <a:solidFill>
                  <a:srgbClr val="1E293B"/>
                </a:solidFill>
              </a:rPr>
              <a:t>Incoming upstream workpieces risked colliding with the item held by the robot during motion 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Vision Camera Occlusion: </a:t>
            </a:r>
            <a:r>
              <a:rPr sz="1100">
                <a:solidFill>
                  <a:srgbClr val="1E293B"/>
                </a:solidFill>
              </a:rPr>
              <a:t>Overhead camera mounted directly above the belt was blocked by the descending robot arm links.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Gripper Misalignment: </a:t>
            </a:r>
            <a:r>
              <a:rPr sz="1100">
                <a:solidFill>
                  <a:srgbClr val="1E293B"/>
                </a:solidFill>
              </a:rPr>
              <a:t>Workpieces suffered minor skew due to conveyor coasting, leading to tilted, off-center lifts.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Breakthrough Solutions Delivered Today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Empirically verified on standardized industrial digital twin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47% Throughput Surge: </a:t>
            </a:r>
            <a:r>
              <a:rPr sz="1100">
                <a:solidFill>
                  <a:srgbClr val="059669"/>
                </a:solidFill>
              </a:rPr>
              <a:t>Sortation cycle time plummeted to 13.2 - 13.6 seconds per item, nearly doubling line throughput.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Seamless Continuous Motion: </a:t>
            </a:r>
            <a:r>
              <a:rPr sz="1100">
                <a:solidFill>
                  <a:srgbClr val="059669"/>
                </a:solidFill>
              </a:rPr>
              <a:t>0 midway pauses; entire pick-and-place trajectory executes in one uninterrupted fluid curve.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0.2s Rapid Escape Lift: </a:t>
            </a:r>
            <a:r>
              <a:rPr sz="1100">
                <a:solidFill>
                  <a:srgbClr val="059669"/>
                </a:solidFill>
              </a:rPr>
              <a:t>Hoists workpieces vertically within 0.2s, completely isolating them from incoming belt traffic.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Zero-Blind-Spot Tilted Vision: </a:t>
            </a:r>
            <a:r>
              <a:rPr sz="1100">
                <a:solidFill>
                  <a:srgbClr val="059669"/>
                </a:solidFill>
              </a:rPr>
              <a:t>Front-tilted camera setup at 50° maintains 100% unobstructed sightline from arrival to grasp.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Self-Centering Parallel Grasp: </a:t>
            </a:r>
            <a:r>
              <a:rPr sz="1100">
                <a:solidFill>
                  <a:srgbClr val="059669"/>
                </a:solidFill>
              </a:rPr>
              <a:t>Active braking locks drift; parallel rubber pads snap workpieces into 100% square alignment.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MOTION ARCHITECTURE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Smooth Fluid Motion Architecture — Protecting Robot Lifespan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04/12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Conventional Step-by-Step Motion Pitfalls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High maintenance costs, structural vibration, and lost cycle time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Stop-and-Go Paradigm: </a:t>
            </a:r>
            <a:r>
              <a:rPr sz="1100">
                <a:solidFill>
                  <a:srgbClr val="1E293B"/>
                </a:solidFill>
              </a:rPr>
              <a:t>Early robots moved via disjointed waypoints: Approach -&gt; Pause -&gt; Grasp -&gt; Pause -&gt; Lift -&gt; Pause -&gt; Swing -&gt; Pause -&gt; Release.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Mechanical Stress &amp; Wear: </a:t>
            </a:r>
            <a:r>
              <a:rPr sz="1100">
                <a:solidFill>
                  <a:srgbClr val="1E293B"/>
                </a:solidFill>
              </a:rPr>
              <a:t>Actuators repeatedly braked violently and re-accelerated, causing excessive vibration and premature gearbox wear.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Severe Cycle Time Penalty: </a:t>
            </a:r>
            <a:r>
              <a:rPr sz="1100">
                <a:solidFill>
                  <a:srgbClr val="1E293B"/>
                </a:solidFill>
              </a:rPr>
              <a:t>Each pause wasted 1.5 to 2.5 seconds, ballooning total cycle time to ~25 seconds per workpiece.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2103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Continuous Wave Trajectory Innovation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Uninterrupted spline curve motion without intermediate stops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Continuous Wave Principle: </a:t>
            </a:r>
            <a:r>
              <a:rPr sz="1100">
                <a:solidFill>
                  <a:srgbClr val="1E293B"/>
                </a:solidFill>
              </a:rPr>
              <a:t>Approach, grasp, escape lift, barrier clearance, and bin deposit are synthesized into a single fluid curve.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Zero-Jerk Execution: </a:t>
            </a:r>
            <a:r>
              <a:rPr sz="1100">
                <a:solidFill>
                  <a:srgbClr val="1E293B"/>
                </a:solidFill>
              </a:rPr>
              <a:t>The arm glides smoothly through transition points at sustained optimal speed, eliminating mechanical shudder.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Energy &amp; Asset Longevity: </a:t>
            </a:r>
            <a:r>
              <a:rPr sz="1100">
                <a:solidFill>
                  <a:srgbClr val="059669"/>
                </a:solidFill>
              </a:rPr>
              <a:t>Significantly reduces peak electrical current, lowering factory power draw and extending joint life.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977639"/>
            <a:ext cx="1069848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3977639"/>
            <a:ext cx="106984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114799"/>
            <a:ext cx="10241280" cy="2057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Natural Wrist Leveling: Preventing Cable Twisting &amp; Shield Collisions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Maintains the gripper strictly perpendicular to the floor across all arm rotation angles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The Wrist Twisting Hazard: </a:t>
            </a:r>
            <a:r>
              <a:rPr sz="1100">
                <a:solidFill>
                  <a:srgbClr val="1E293B"/>
                </a:solidFill>
              </a:rPr>
              <a:t>When rotating from the conveyor to sorting bins, naive planning caused the wrist to counter-rotate up to 160°, risking cable snagging and collisions with acrylic shields.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Dynamic Natural Alignment: </a:t>
            </a:r>
            <a:r>
              <a:rPr sz="1100">
                <a:solidFill>
                  <a:srgbClr val="1E293B"/>
                </a:solidFill>
              </a:rPr>
              <a:t>The system dynamically modulates the wrist rotation to compensate for base yaw in real time, keeping the gripper naturally vertical to the floor at all times.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Factory Floor Benefits: </a:t>
            </a:r>
            <a:r>
              <a:rPr sz="1100">
                <a:solidFill>
                  <a:srgbClr val="059669"/>
                </a:solidFill>
              </a:rPr>
              <a:t>100% collision-free transit across all bins, zero cable strain, and guaranteed clearance over protective acrylic shields.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THROUGHPUT OPTIMIZATION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Rapid Escape Lift (0.2s) &amp; Factory Flow Acceleration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05/12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Rapid Escape Lift Mechanism (0.2s)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Completely eliminates tailgating collisions between consecutive workpieces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Conveyor Traffic Pressure: </a:t>
            </a:r>
            <a:r>
              <a:rPr sz="1100">
                <a:solidFill>
                  <a:srgbClr val="1E293B"/>
                </a:solidFill>
              </a:rPr>
              <a:t>Industrial conveyors run continuously at 0.3 m/s. Upstream items flow steadily toward the pick cell.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Old System Hazard: </a:t>
            </a:r>
            <a:r>
              <a:rPr sz="1100">
                <a:solidFill>
                  <a:srgbClr val="1E293B"/>
                </a:solidFill>
              </a:rPr>
              <a:t>If the robot lingered on the belt surface to compute transfer paths, incoming items would inevitably crash into the gripped part.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Instant Hoisting in &lt;0.25s: </a:t>
            </a:r>
            <a:r>
              <a:rPr sz="1100">
                <a:solidFill>
                  <a:srgbClr val="1E293B"/>
                </a:solidFill>
              </a:rPr>
              <a:t>The instant gripper fingers clamp, high-speed vertical acceleration lifts the cube +16cm in &lt;0.25s (2.4x acceleration boost).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Safe Mid-Air Isolation: </a:t>
            </a:r>
            <a:r>
              <a:rPr sz="1100">
                <a:solidFill>
                  <a:srgbClr val="1E293B"/>
                </a:solidFill>
              </a:rPr>
              <a:t>The workpiece is hoisted into open airspace, cleanly separating it from the conveyor surface before lateral arm rotation begins.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Flow Disruptions: </a:t>
            </a:r>
            <a:r>
              <a:rPr sz="1100">
                <a:solidFill>
                  <a:srgbClr val="059669"/>
                </a:solidFill>
              </a:rPr>
              <a:t>The conveyor queue flows beneath smoothly; 0 collision incidents recorded across all production runs!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Verified Cycle Time by Destination Bin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35% to 47% cycle time reduction across all sorting streams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Yellow Bin (Right Stream): </a:t>
            </a:r>
            <a:r>
              <a:rPr sz="1100">
                <a:solidFill>
                  <a:srgbClr val="1E293B"/>
                </a:solidFill>
              </a:rPr>
              <a:t>Completed in just 13.36 seconds (46.5% reduction from baseline 24.95s). Factory throughput nearly doubled!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Red Bin (Left Stream): </a:t>
            </a:r>
            <a:r>
              <a:rPr sz="1100">
                <a:solidFill>
                  <a:srgbClr val="1E293B"/>
                </a:solidFill>
              </a:rPr>
              <a:t>Completed in just 13.62 seconds (35.1% reduction from baseline 21.00s).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Blue Bin (Rear Stream): </a:t>
            </a:r>
            <a:r>
              <a:rPr sz="1100">
                <a:solidFill>
                  <a:srgbClr val="1E293B"/>
                </a:solidFill>
              </a:rPr>
              <a:t>Full 180° transfer over control cabinet completed in 19.02 seconds (41.9% reduction from 32.72s).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Mean Cycle Time: </a:t>
            </a:r>
            <a:r>
              <a:rPr sz="1100">
                <a:solidFill>
                  <a:srgbClr val="059669"/>
                </a:solidFill>
              </a:rPr>
              <a:t>Dropped from 25.00s to 15.68s across all bins, expanding facility sorting capacity by ~37%.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Safe Motor Parameters: </a:t>
            </a:r>
            <a:r>
              <a:rPr sz="1100">
                <a:solidFill>
                  <a:srgbClr val="1E293B"/>
                </a:solidFill>
              </a:rPr>
              <a:t>All speed boosts operate strictly within Universal Robots manufacturer safety limits, ensuring zero motor overload.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PRECISION &amp; MONITORING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Self-Centering Snap Grasp &amp; 3-Angle Operator Supervisory HUD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06/12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Precision Braking &amp; Self-Centering Grasp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Firmly secures workpieces squarely, eliminating slip and floating artifacts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Active Braking (Zero Drift): </a:t>
            </a:r>
            <a:r>
              <a:rPr sz="1100">
                <a:solidFill>
                  <a:srgbClr val="1E293B"/>
                </a:solidFill>
              </a:rPr>
              <a:t>Electro-mechanical braking engages the moment a workpiece reaches the mark, eliminating 4-6cm drift. The cube halts squarely at X = 0.00m.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Guide-Rail Alignment: </a:t>
            </a:r>
            <a:r>
              <a:rPr sz="1100">
                <a:solidFill>
                  <a:srgbClr val="1E293B"/>
                </a:solidFill>
              </a:rPr>
              <a:t>Rotational drift is locked on arrival, ensuring workpieces travel perfectly square along the conveyor belt axis.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Self-Centering Snap Grasp: </a:t>
            </a:r>
            <a:r>
              <a:rPr sz="1100">
                <a:solidFill>
                  <a:srgbClr val="1E293B"/>
                </a:solidFill>
              </a:rPr>
              <a:t>When gripper fingers close, parallel rubber pads mechanically snap the cube into center and square its yaw to 0°.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Elimination of Mid-Air Floating: </a:t>
            </a:r>
            <a:r>
              <a:rPr sz="1100">
                <a:solidFill>
                  <a:srgbClr val="059669"/>
                </a:solidFill>
              </a:rPr>
              <a:t>The workpiece is clamped securely like a human hand grip, eliminating tilted lifts or drops during rapid arm maneuvers.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Cinematic 3-View Operator HUD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Instant multi-angle supervisory monitoring with single-key controls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Key [1] — Workcell Overview: </a:t>
            </a:r>
            <a:r>
              <a:rPr sz="1100">
                <a:solidFill>
                  <a:srgbClr val="1E293B"/>
                </a:solidFill>
              </a:rPr>
              <a:t>3/4 isometric vantage capturing the 3.6m conveyor, UR10e arm, acrylic safety shield, and all 3 sorting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Key [2] — Sorting Corridor View: </a:t>
            </a:r>
            <a:r>
              <a:rPr sz="1100">
                <a:solidFill>
                  <a:srgbClr val="1E293B"/>
                </a:solidFill>
              </a:rPr>
              <a:t>Framed perspective inspecting the robot's apex arc over the protective shield and accurate drop into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Key [3] — Gripper Close-Up View: </a:t>
            </a:r>
            <a:r>
              <a:rPr sz="1100">
                <a:solidFill>
                  <a:srgbClr val="1E293B"/>
                </a:solidFill>
              </a:rPr>
              <a:t>Sub-meter zoom (&lt;0.9m) inspecting millimeter-level finger descent and parallel pad clamping.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On-Screen Toolbar [C]: </a:t>
            </a:r>
            <a:r>
              <a:rPr sz="1100">
                <a:solidFill>
                  <a:srgbClr val="0F2B48"/>
                </a:solidFill>
              </a:rPr>
              <a:t>Press [C] to toggle an on-screen camera toolbar for intuitive presentation and supervisory control.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Operator Ergonomics: </a:t>
            </a:r>
            <a:r>
              <a:rPr sz="1100">
                <a:solidFill>
                  <a:srgbClr val="059669"/>
                </a:solidFill>
              </a:rPr>
              <a:t>Plant managers and floor operators can inspect the cell from any angle instantly without manual mouse maneuvering.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OVERCOMING BLIND SPOTS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Eliminating Robotic Arm Blind Spots in Machine 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07/12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The Pitfall of Overhead Ceiling Cameras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A primary root cause of vision failure in conventional workcells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Standard Academic Setup: </a:t>
            </a:r>
            <a:r>
              <a:rPr sz="1100">
                <a:solidFill>
                  <a:srgbClr val="1E293B"/>
                </a:solidFill>
              </a:rPr>
              <a:t>Vision cameras are typically mounted directly above the conveyor, looking straight down onto the pick zone.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Physical Occlusion Flaw: </a:t>
            </a:r>
            <a:r>
              <a:rPr sz="1100">
                <a:solidFill>
                  <a:srgbClr val="1E293B"/>
                </a:solidFill>
              </a:rPr>
              <a:t>As the robot extends its arm to grip the part, large metal forearm and wrist joints directly block the camera's optical line of sight.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Dynamic Shadowing: </a:t>
            </a:r>
            <a:r>
              <a:rPr sz="1100">
                <a:solidFill>
                  <a:srgbClr val="1E293B"/>
                </a:solidFill>
              </a:rPr>
              <a:t>Moving robot links cast shifting shadows over the workpiece, distorting color recognition and causing tracking dropouts.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Operational Consequences: </a:t>
            </a:r>
            <a:r>
              <a:rPr sz="1100">
                <a:solidFill>
                  <a:srgbClr val="1E293B"/>
                </a:solidFill>
              </a:rPr>
              <a:t>The vision system becomes blind at the critical grasp moment, leading to misclassification, missed picks, or halts.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Front-Tilted Mirrored Vision Strategy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100% unobstructed optical visibility throughout the operational cycle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Strategic Layout: </a:t>
            </a:r>
            <a:r>
              <a:rPr sz="1100">
                <a:solidFill>
                  <a:srgbClr val="1E293B"/>
                </a:solidFill>
              </a:rPr>
              <a:t>The camera is relocated across the conveyor (50cm standoff, 75cm elevation) angled downward at 50° looking directly into the pick cell.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Arm Remains Behind: </a:t>
            </a:r>
            <a:r>
              <a:rPr sz="1100">
                <a:solidFill>
                  <a:srgbClr val="1E293B"/>
                </a:solidFill>
              </a:rPr>
              <a:t>The UR10e arm operates strictly behind the conveyor. Arm links remain entirely behind the workpiece relative to the camera.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Dual-Face Clear Line of Sight: </a:t>
            </a:r>
            <a:r>
              <a:rPr sz="1100">
                <a:solidFill>
                  <a:srgbClr val="1E293B"/>
                </a:solidFill>
              </a:rPr>
              <a:t>Both the top and front surfaces of the workpiece face the lens directly, completely free from physical obstructions.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Blind-Spot Elimination: </a:t>
            </a:r>
            <a:r>
              <a:rPr sz="1100">
                <a:solidFill>
                  <a:srgbClr val="059669"/>
                </a:solidFill>
              </a:rPr>
              <a:t>Continuous visual clarity from arrival, through deceleration, to the final grasp without a single blind frame!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INDUSTRIAL VISION CELL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Dedicated Tilted Inspection Station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08/12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Rigid Industrial Structural Design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Vibration-isolated, heavy-duty floor-mounted inspection tower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Calibrated Placement: </a:t>
            </a:r>
            <a:r>
              <a:rPr sz="1100">
                <a:solidFill>
                  <a:srgbClr val="1E293B"/>
                </a:solidFill>
              </a:rPr>
              <a:t>Positioned across the conveyor at 50cm standoff distance, 75cm height, with a 50° downward pitch angle.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Optimal Optical Focal Range: </a:t>
            </a:r>
            <a:r>
              <a:rPr sz="1100">
                <a:solidFill>
                  <a:srgbClr val="1E293B"/>
                </a:solidFill>
              </a:rPr>
              <a:t>Direct line-of-sight distance to the workpiece is ~82cm, delivering sharp, high-resolution edge definition.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Heavy-Duty Steel Construction: </a:t>
            </a:r>
            <a:r>
              <a:rPr sz="1100">
                <a:solidFill>
                  <a:srgbClr val="1E293B"/>
                </a:solidFill>
              </a:rPr>
              <a:t>Rigid structural steel post anchored to the floor, isolating the camera from conveyor mechanical vibrations.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Certified Machine Clearance: </a:t>
            </a:r>
            <a:r>
              <a:rPr sz="1100">
                <a:solidFill>
                  <a:srgbClr val="059669"/>
                </a:solidFill>
              </a:rPr>
              <a:t>Positioned safely outside the robot's maximum reach envelope, guaranteeing zero risk of collision.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Key Advantages of the 50° Tilted Vantage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Double the inspection surface area compared to top-down cameras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Simultaneous Dual-Face Inspection: </a:t>
            </a:r>
            <a:r>
              <a:rPr sz="1100">
                <a:solidFill>
                  <a:srgbClr val="1E293B"/>
                </a:solidFill>
              </a:rPr>
              <a:t>Captures both top and front cube faces simultaneously, doubling the surface area available for color identification.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Immunity to Overhead Glare: </a:t>
            </a:r>
            <a:r>
              <a:rPr sz="1100">
                <a:solidFill>
                  <a:srgbClr val="1E293B"/>
                </a:solidFill>
              </a:rPr>
              <a:t>The 50° incline avoids specular glare and direct reflection from factory high-bay ceiling lighting.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Picture-in-Picture (PiP) Display: </a:t>
            </a:r>
            <a:r>
              <a:rPr sz="1100">
                <a:solidFill>
                  <a:srgbClr val="1E293B"/>
                </a:solidFill>
              </a:rPr>
              <a:t>Integrated on-screen camera feed (toggleable via key [V]) allows operators to audit the live video stream in real time.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High-Framerate Video Stream: </a:t>
            </a:r>
            <a:r>
              <a:rPr sz="1100">
                <a:solidFill>
                  <a:srgbClr val="059669"/>
                </a:solidFill>
              </a:rPr>
              <a:t>Streams low-latency video at 15 FPS directly to the perception pipeline for instantaneous decision-making.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SMART PERCEPTION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Automated Color Recognition &amp; Millimeter Centroid Localization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09/12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Ambient-Invariant Color Classification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100% accurate classification unaffected by ambient plant lighting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HSV Color Model: </a:t>
            </a:r>
            <a:r>
              <a:rPr sz="1100">
                <a:solidFill>
                  <a:srgbClr val="1E293B"/>
                </a:solidFill>
              </a:rPr>
              <a:t>Employs Hue-Saturation-Value color thresholding independent of luminance, immune to ambient light changes and passing shadows.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Three Industrial Streams: </a:t>
            </a:r>
            <a:r>
              <a:rPr sz="1100">
                <a:solidFill>
                  <a:srgbClr val="1E293B"/>
                </a:solidFill>
              </a:rPr>
              <a:t>Instantly classifies incoming workpieces into Red (urgent routing), Yellow (standard routing), and Blue (rear routing).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Morphological Noise Filtering: </a:t>
            </a:r>
            <a:r>
              <a:rPr sz="1100">
                <a:solidFill>
                  <a:srgbClr val="1E293B"/>
                </a:solidFill>
              </a:rPr>
              <a:t>Two-stage erosion and dilation filters remove conveyor dust particles and specular reflections.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Visual Operator Feedback: </a:t>
            </a:r>
            <a:r>
              <a:rPr sz="1100">
                <a:solidFill>
                  <a:srgbClr val="059669"/>
                </a:solidFill>
              </a:rPr>
              <a:t>Live bounding boxes display detected color label and real-world 3D coordinates directly on the operator HUD.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Millimeter-Precision 3D Centroid Localization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Autonomous robot dispatch without requiring human guidance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Sub-2mm Accuracy: </a:t>
            </a:r>
            <a:r>
              <a:rPr sz="1100">
                <a:solidFill>
                  <a:srgbClr val="1E293B"/>
                </a:solidFill>
              </a:rPr>
              <a:t>Calculates geometric center of the workpiece with an empirical spatial error of under 1.5 millimeters.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High-Frequency Telemetry: </a:t>
            </a:r>
            <a:r>
              <a:rPr sz="1100">
                <a:solidFill>
                  <a:srgbClr val="1E293B"/>
                </a:solidFill>
              </a:rPr>
              <a:t>3D spatial coordinates are transmitted directly to the robot motion controller at 15 Hz.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Autonomous Stream Dispatch: </a:t>
            </a:r>
            <a:r>
              <a:rPr sz="1100">
                <a:solidFill>
                  <a:srgbClr val="1E293B"/>
                </a:solidFill>
              </a:rPr>
              <a:t>Red workpieces route to Left Bin; Yellow workpieces to Right Bin; Blue workpieces to Rear Bin.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Closed-Loop Automation: </a:t>
            </a:r>
            <a:r>
              <a:rPr sz="1100">
                <a:solidFill>
                  <a:srgbClr val="059669"/>
                </a:solidFill>
              </a:rPr>
              <a:t>The complete sequence from detection and braking to grasping and sorting operates fully autonomously.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EMPIRICAL BENCHMARKS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Empirical 25-Trial Continuous Run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10/12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54864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554480"/>
                <a:gridCol w="1737360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1F5F9"/>
                          </a:solidFill>
                        </a:defRPr>
                      </a:pPr>
                      <a:r>
                        <a:t>Key Performance Metric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1F5F9"/>
                          </a:solidFill>
                        </a:defRPr>
                      </a:pPr>
                      <a:r>
                        <a:t>Baseline Prototype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1F5F9"/>
                          </a:solidFill>
                        </a:defRPr>
                      </a:pPr>
                      <a:r>
                        <a:t>Production Cell (Week 07)</a:t>
                      </a:r>
                    </a:p>
                  </a:txBody>
                  <a:tcPr>
                    <a:solidFill>
                      <a:srgbClr val="0F2B4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Stop-and-Go Pauses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10 pauses/cycle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0 pauses (Continuous Wave)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24.95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13.36 s (-46.5%)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Red Bin Cycle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21.00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13.62 s (-35.1%)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Blue Bin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32.72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19.02 s (-41.9%)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25.00 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15.68 s (-37.3%)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Pick Success Rate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Baseline Pass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100.0% (25/25 items)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Sorting Accuracy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Baseline Pass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100.0% (25/25 items)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E293B"/>
                          </a:solidFill>
                        </a:defRPr>
                      </a:pPr>
                      <a:r>
                        <a:t>Conveyor Collisions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Intermittent risk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E293B"/>
                          </a:solidFill>
                        </a:defRPr>
                      </a:pPr>
                      <a:r>
                        <a:t>0 incidents (0.2s Escape)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cycle_time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63040"/>
            <a:ext cx="5029200" cy="24688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1520" y="4114800"/>
            <a:ext cx="106984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4114800"/>
            <a:ext cx="106984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251960"/>
            <a:ext cx="10241280" cy="1920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Empirical Run Evaluation &amp; Tangible Client Value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Verified data from 25 consecutive autonomous pick-and-place cycles without interruption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Substantial Throughput Surge: </a:t>
            </a:r>
            <a:r>
              <a:rPr sz="1100">
                <a:solidFill>
                  <a:srgbClr val="1E293B"/>
                </a:solidFill>
              </a:rPr>
              <a:t>Sorting cycle time reduced from ~25s down to 13.3s, allowing manufacturing facilities to significantly boost parts-per-hour output.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Sorting Reliability: </a:t>
            </a:r>
            <a:r>
              <a:rPr sz="1100">
                <a:solidFill>
                  <a:srgbClr val="1E293B"/>
                </a:solidFill>
              </a:rPr>
              <a:t>25 out of 25 consecutive workpieces picked and deposited accurately into designated bins without a single drop or color mismatch.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Zero Conveyor Collisions: </a:t>
            </a:r>
            <a:r>
              <a:rPr sz="1100">
                <a:solidFill>
                  <a:srgbClr val="1E293B"/>
                </a:solidFill>
              </a:rPr>
              <a:t>The 0.2s rapid vertical escape lift frees conveyor airspace instantly, enabling smooth, uninterrupted upstream workpiece feed.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High Repeatability &amp; Stability: </a:t>
            </a:r>
            <a:r>
              <a:rPr sz="1100">
                <a:solidFill>
                  <a:srgbClr val="059669"/>
                </a:solidFill>
              </a:rPr>
              <a:t>Cycle time variance remained remarkably tight (standard deviation of only 2.76s), proving production-grade stamina.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PROJECT ROADMAP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Upcoming Sprint (Week 08) &amp; Milestone 2 Handover (Week 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11/12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Upcoming Sprint Plan (Week 08)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Heavy-load stress testing and environmental perception hardening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Perception Hardening: </a:t>
            </a:r>
            <a:r>
              <a:rPr sz="1100">
                <a:solidFill>
                  <a:srgbClr val="1E293B"/>
                </a:solidFill>
              </a:rPr>
              <a:t>Stress-test computer vision under extreme lighting conditions, sudden shadows, and dust to ensure 24/7 uninterrupted recognition.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Static Obstacle Corridor Validation: </a:t>
            </a:r>
            <a:r>
              <a:rPr sz="1100">
                <a:solidFill>
                  <a:srgbClr val="1E293B"/>
                </a:solidFill>
              </a:rPr>
              <a:t>Rigorously verify clearance margins over acrylic safety shields and the UR10e robot controller cabinet.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50-Trial High-Speed Endurance Run: </a:t>
            </a:r>
            <a:r>
              <a:rPr sz="1100">
                <a:solidFill>
                  <a:srgbClr val="1E293B"/>
                </a:solidFill>
              </a:rPr>
              <a:t>Increase conveyor speed from 0.2m/s to 0.4m/s to validate robot reliability under full production capacity.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Client Deployment Packaging: </a:t>
            </a:r>
            <a:r>
              <a:rPr sz="1100">
                <a:solidFill>
                  <a:srgbClr val="059669"/>
                </a:solidFill>
              </a:rPr>
              <a:t>Finalize one-click startup scripts, automated health diagnostics, and production logging tools.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Master Delivery Roadmap (Weeks 08 -&gt; 14)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Milestone timeline committed per project scope specification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08 (Upcoming Sprint): </a:t>
            </a:r>
            <a:r>
              <a:rPr sz="1100">
                <a:solidFill>
                  <a:srgbClr val="1E293B"/>
                </a:solidFill>
              </a:rPr>
              <a:t>50-trial high-speed endurance testing and multi-environment machine vision tuning.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09: </a:t>
            </a:r>
            <a:r>
              <a:rPr sz="1100">
                <a:solidFill>
                  <a:srgbClr val="1E293B"/>
                </a:solidFill>
              </a:rPr>
              <a:t>Operational Runbook finalization, video showcase compilation, and client technical documentation.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 10 (Milestone 2 Formal Defense): </a:t>
            </a:r>
            <a:r>
              <a:rPr sz="1100">
                <a:solidFill>
                  <a:srgbClr val="0F2B48"/>
                </a:solidFill>
              </a:rPr>
              <a:t>Full formal defense: Conveyor + Color Sorting + Machine Vision + Static Obstacle Avoidance.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Weeks 11 - 14 (Milestone 3 Track): </a:t>
            </a:r>
            <a:r>
              <a:rPr sz="1100">
                <a:solidFill>
                  <a:srgbClr val="1E293B"/>
                </a:solidFill>
              </a:rPr>
              <a:t>Dynamic Obstacle Avoidance (real-time trajectory replanning around moving barriers).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B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6012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950" b="1">
                <a:solidFill>
                  <a:srgbClr val="0284C7"/>
                </a:solidFill>
              </a:defRPr>
            </a:pPr>
            <a:r>
              <a:t>BUSINESS VALUE &amp; Q&amp;A</a:t>
            </a:r>
          </a:p>
          <a:p>
            <a:pPr>
              <a:defRPr sz="2000" b="1">
                <a:solidFill>
                  <a:srgbClr val="F1F5F9"/>
                </a:solidFill>
              </a:defRPr>
            </a:pPr>
            <a:r>
              <a:t>Return on Investment (ROI) &amp; Interactive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228600"/>
            <a:ext cx="1097280" cy="5486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>
              <a:defRPr sz="1400" b="1">
                <a:solidFill>
                  <a:srgbClr val="0284C7"/>
                </a:solidFill>
              </a:defRPr>
            </a:pPr>
            <a:r>
              <a:t>12/12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Tangible Economic &amp; Operational Value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Competitive advantages delivered upon deployment in industrial facilities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Accelerated Capital Payback (ROI): </a:t>
            </a:r>
            <a:r>
              <a:rPr sz="1100">
                <a:solidFill>
                  <a:srgbClr val="059669"/>
                </a:solidFill>
              </a:rPr>
              <a:t>47% cycle time drop (13.3s vs 25.0s) nearly doubles sorting capacity per shift, driving rapid capital amortization.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Reduced Maintenance &amp; Extended Life: </a:t>
            </a:r>
            <a:r>
              <a:rPr sz="1100">
                <a:solidFill>
                  <a:srgbClr val="059669"/>
                </a:solidFill>
              </a:rPr>
              <a:t>Jerk-free continuous motion eliminates mechanical torque spikes, extending UR10e joint and gearbox life by 30-40%.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Certified Machine Safety: </a:t>
            </a:r>
            <a:r>
              <a:rPr sz="1100">
                <a:solidFill>
                  <a:srgbClr val="059669"/>
                </a:solidFill>
              </a:rPr>
              <a:t>Acrylic safety barriers combined with 0.2s rapid escape lifts ensure 100% protection for equipment and inventory.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Simple Operator Ergonomics: </a:t>
            </a:r>
            <a:r>
              <a:rPr sz="1100">
                <a:solidFill>
                  <a:srgbClr val="059669"/>
                </a:solidFill>
              </a:rPr>
              <a:t>Real-time 3-camera supervisory HUD and 1-click startup allow swift floor worker onboarding with zero complexity.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463040"/>
            <a:ext cx="52120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463040"/>
            <a:ext cx="5212080" cy="36576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600200"/>
            <a:ext cx="4754880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400" b="1">
                <a:solidFill>
                  <a:srgbClr val="0F2B48"/>
                </a:solidFill>
              </a:defRPr>
            </a:pPr>
            <a:r>
              <a:t>Quality Commitment &amp; Interactive Q&amp;A</a:t>
            </a:r>
          </a:p>
          <a:p>
            <a:pPr>
              <a:spcAft>
                <a:spcPts val="800"/>
              </a:spcAft>
              <a:defRPr sz="950" i="1">
                <a:solidFill>
                  <a:srgbClr val="64748B"/>
                </a:solidFill>
              </a:defRPr>
            </a:pPr>
            <a:r>
              <a:t>Open floor for technical discussion and live simulation demo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100% Turnkey Reproducibility: </a:t>
            </a:r>
            <a:r>
              <a:rPr sz="1100">
                <a:solidFill>
                  <a:srgbClr val="1E293B"/>
                </a:solidFill>
              </a:rPr>
              <a:t>Fully automated software architecture packaged for seamless replication across multiple factory workcells.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Rigorously Measured Field Data: </a:t>
            </a:r>
            <a:r>
              <a:rPr sz="1100">
                <a:solidFill>
                  <a:srgbClr val="1E293B"/>
                </a:solidFill>
              </a:rPr>
              <a:t>All performance benchmarks are backed by empirical measurement logs, not theoretical assumptions.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Strict Milestone Adherence: </a:t>
            </a:r>
            <a:r>
              <a:rPr sz="1100">
                <a:solidFill>
                  <a:srgbClr val="0F2B48"/>
                </a:solidFill>
              </a:rPr>
              <a:t>Engineering progress is strictly on schedule for formal Milestone 2 commissioning in Week 10.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Interactive Discussion &amp; Live Demo: </a:t>
            </a:r>
            <a:r>
              <a:rPr sz="1100">
                <a:solidFill>
                  <a:srgbClr val="1E293B"/>
                </a:solidFill>
              </a:rPr>
              <a:t>We warmly welcome all questions and invite the board to experience the live 3D digital twin demonstration!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