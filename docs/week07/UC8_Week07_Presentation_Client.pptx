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188720"/>
            <a:ext cx="109728" cy="43891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188720"/>
            <a:ext cx="10241280" cy="4389120"/>
          </a:xfrm>
          <a:prstGeom prst="rect">
            <a:avLst/>
          </a:prstGeom>
          <a:noFill/>
        </p:spPr>
        <p:txBody>
          <a:bodyPr wrap="square">
            <a:spAutoFit/>
          </a:bodyPr>
          <a:lstStyle/>
          <a:p>
            <a:pPr>
              <a:spcAft>
                <a:spcPts val="1200"/>
              </a:spcAft>
              <a:defRPr sz="1200" b="1">
                <a:solidFill>
                  <a:srgbClr val="0284C7"/>
                </a:solidFill>
              </a:defRPr>
            </a:pPr>
            <a:r>
              <a:t>GIẢI PHÁP TỰ ĐỘNG HÓA DÂY CHUYỀN SẢN XUẤT CÔNG NGHIỆP 4.0</a:t>
            </a:r>
          </a:p>
          <a:p>
            <a:pPr>
              <a:spcAft>
                <a:spcPts val="1600"/>
              </a:spcAft>
              <a:defRPr sz="3200" b="1">
                <a:solidFill>
                  <a:srgbClr val="F1F5F9"/>
                </a:solidFill>
              </a:defRPr>
            </a:pPr>
            <a:r>
              <a:t>Hệ Thống Phân Loại Băng Chuyền Bằng Robot UR10e</a:t>
            </a:r>
            <a:br/>
            <a:r>
              <a:t>&amp; Thị Giác Máy Thông Minh</a:t>
            </a:r>
          </a:p>
          <a:p>
            <a:pPr>
              <a:spcAft>
                <a:spcPts val="2800"/>
              </a:spcAft>
              <a:defRPr sz="1400">
                <a:solidFill>
                  <a:srgbClr val="94A3B8"/>
                </a:solidFill>
              </a:defRPr>
            </a:pPr>
            <a:r>
              <a:t>Báo Cáo Tiến Độ Dự Án (Week 07) — Phiên Bản Trình Chiếu Doanh Nghiệp &amp; Khách Hàng</a:t>
            </a:r>
            <a:br/>
            <a:r>
              <a:t>Tối ưu hóa chuyển động lượn sóng (+47% năng suất) • Mỏ kẹp tự nắn phẳng • Thị giác không điểm mù</a:t>
            </a:r>
          </a:p>
          <a:p>
            <a:pPr>
              <a:defRPr sz="1200" b="1">
                <a:solidFill>
                  <a:srgbClr val="F1F5F9"/>
                </a:solidFill>
              </a:defRPr>
            </a:pPr>
            <a:r>
              <a:t>Đơn vị phát triển: Nhóm Kỹ Thuật Đồ Án Robot — Trường Đại Học Việt Đức (VGU) | Tháng 10/2026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601200" cy="868680"/>
          </a:xfrm>
          <a:prstGeom prst="rect">
            <a:avLst/>
          </a:prstGeom>
          <a:noFill/>
        </p:spPr>
        <p:txBody>
          <a:bodyPr wrap="square" lIns="0" tIns="0" rIns="0" bIns="0">
            <a:spAutoFit/>
          </a:bodyPr>
          <a:lstStyle/>
          <a:p>
            <a:pPr>
              <a:spcAft>
                <a:spcPts val="200"/>
              </a:spcAft>
              <a:defRPr sz="950" b="1">
                <a:solidFill>
                  <a:srgbClr val="0284C7"/>
                </a:solidFill>
              </a:defRPr>
            </a:pPr>
            <a:r>
              <a:t>LỘ TRÌNH BÁO CÁO</a:t>
            </a:r>
          </a:p>
          <a:p>
            <a:pPr>
              <a:defRPr sz="2000" b="1">
                <a:solidFill>
                  <a:srgbClr val="F1F5F9"/>
                </a:solidFill>
              </a:defRPr>
            </a:pPr>
            <a:r>
              <a:t>Nội Dung Báo Cáo Giải Pháp Dành Cho Khách Hàng</a:t>
            </a:r>
          </a:p>
        </p:txBody>
      </p:sp>
      <p:sp>
        <p:nvSpPr>
          <p:cNvPr id="5" name="TextBox 4"/>
          <p:cNvSpPr txBox="1"/>
          <p:nvPr/>
        </p:nvSpPr>
        <p:spPr>
          <a:xfrm>
            <a:off x="10515600" y="228600"/>
            <a:ext cx="1097280" cy="594360"/>
          </a:xfrm>
          <a:prstGeom prst="rect">
            <a:avLst/>
          </a:prstGeom>
          <a:noFill/>
        </p:spPr>
        <p:txBody>
          <a:bodyPr wrap="none" lIns="0" tIns="0" rIns="0" bIns="0">
            <a:spAutoFit/>
          </a:bodyPr>
          <a:lstStyle/>
          <a:p>
            <a:pPr algn="r">
              <a:defRPr sz="1300" b="1">
                <a:solidFill>
                  <a:srgbClr val="0284C7"/>
                </a:solidFill>
              </a:defRPr>
            </a:pPr>
            <a:r>
              <a:t>02/12</a:t>
            </a:r>
          </a:p>
        </p:txBody>
      </p:sp>
      <p:sp>
        <p:nvSpPr>
          <p:cNvPr id="6" name="Rounded Rectangle 5"/>
          <p:cNvSpPr/>
          <p:nvPr/>
        </p:nvSpPr>
        <p:spPr>
          <a:xfrm>
            <a:off x="731520" y="1463040"/>
            <a:ext cx="5212080" cy="1097280"/>
          </a:xfrm>
          <a:prstGeom prst="roundRect">
            <a:avLst>
              <a:gd name="adj" fmla="val 2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627632"/>
            <a:ext cx="4809744" cy="768096"/>
          </a:xfrm>
          <a:prstGeom prst="rect">
            <a:avLst/>
          </a:prstGeom>
          <a:noFill/>
        </p:spPr>
        <p:txBody>
          <a:bodyPr wrap="square" lIns="0" tIns="0" rIns="0" bIns="0">
            <a:spAutoFit/>
          </a:bodyPr>
          <a:lstStyle/>
          <a:p>
            <a:pPr>
              <a:spcAft>
                <a:spcPts val="300"/>
              </a:spcAft>
              <a:defRPr sz="1400" b="1">
                <a:solidFill>
                  <a:srgbClr val="0F2B48"/>
                </a:solidFill>
              </a:defRPr>
            </a:pPr>
            <a:r>
              <a:t>01. Tổng Quan Tiến Độ Dự Án</a:t>
            </a:r>
          </a:p>
          <a:p>
            <a:pPr>
              <a:spcAft>
                <a:spcPts val="800"/>
              </a:spcAft>
              <a:defRPr sz="1000">
                <a:solidFill>
                  <a:srgbClr val="64748B"/>
                </a:solidFill>
              </a:defRPr>
            </a:pPr>
            <a:r>
              <a:t>Cam kết từ giai đoạn trước và kết quả đột phá đạt được hôm nay.</a:t>
            </a:r>
          </a:p>
        </p:txBody>
      </p:sp>
      <p:sp>
        <p:nvSpPr>
          <p:cNvPr id="8" name="Rounded Rectangle 7"/>
          <p:cNvSpPr/>
          <p:nvPr/>
        </p:nvSpPr>
        <p:spPr>
          <a:xfrm>
            <a:off x="731520" y="2670048"/>
            <a:ext cx="5212080" cy="1097280"/>
          </a:xfrm>
          <a:prstGeom prst="roundRect">
            <a:avLst>
              <a:gd name="adj" fmla="val 2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834640"/>
            <a:ext cx="4809744" cy="768096"/>
          </a:xfrm>
          <a:prstGeom prst="rect">
            <a:avLst/>
          </a:prstGeom>
          <a:noFill/>
        </p:spPr>
        <p:txBody>
          <a:bodyPr wrap="square" lIns="0" tIns="0" rIns="0" bIns="0">
            <a:spAutoFit/>
          </a:bodyPr>
          <a:lstStyle/>
          <a:p>
            <a:pPr>
              <a:spcAft>
                <a:spcPts val="300"/>
              </a:spcAft>
              <a:defRPr sz="1400" b="1">
                <a:solidFill>
                  <a:srgbClr val="0F2B48"/>
                </a:solidFill>
              </a:defRPr>
            </a:pPr>
            <a:r>
              <a:t>02. Chuyển Động Lượn Sóng Mượt Mà</a:t>
            </a:r>
          </a:p>
          <a:p>
            <a:pPr>
              <a:spcAft>
                <a:spcPts val="800"/>
              </a:spcAft>
              <a:defRPr sz="1000">
                <a:solidFill>
                  <a:srgbClr val="64748B"/>
                </a:solidFill>
              </a:defRPr>
            </a:pPr>
            <a:r>
              <a:t>Loại bỏ hoàn toàn rung giật, vận hành êm ái, bảo vệ động cơ robot.</a:t>
            </a:r>
          </a:p>
        </p:txBody>
      </p:sp>
      <p:sp>
        <p:nvSpPr>
          <p:cNvPr id="10" name="Rounded Rectangle 9"/>
          <p:cNvSpPr/>
          <p:nvPr/>
        </p:nvSpPr>
        <p:spPr>
          <a:xfrm>
            <a:off x="731520" y="3877056"/>
            <a:ext cx="5212080" cy="1097280"/>
          </a:xfrm>
          <a:prstGeom prst="roundRect">
            <a:avLst>
              <a:gd name="adj" fmla="val 2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4041648"/>
            <a:ext cx="4809744" cy="768096"/>
          </a:xfrm>
          <a:prstGeom prst="rect">
            <a:avLst/>
          </a:prstGeom>
          <a:noFill/>
        </p:spPr>
        <p:txBody>
          <a:bodyPr wrap="square" lIns="0" tIns="0" rIns="0" bIns="0">
            <a:spAutoFit/>
          </a:bodyPr>
          <a:lstStyle/>
          <a:p>
            <a:pPr>
              <a:spcAft>
                <a:spcPts val="300"/>
              </a:spcAft>
              <a:defRPr sz="1400" b="1">
                <a:solidFill>
                  <a:srgbClr val="0F2B48"/>
                </a:solidFill>
              </a:defRPr>
            </a:pPr>
            <a:r>
              <a:t>03. Nhấc Thoát Hiểm Chớp Nhoáng (0.2s)</a:t>
            </a:r>
          </a:p>
          <a:p>
            <a:pPr>
              <a:spcAft>
                <a:spcPts val="800"/>
              </a:spcAft>
              <a:defRPr sz="1000">
                <a:solidFill>
                  <a:srgbClr val="64748B"/>
                </a:solidFill>
              </a:defRPr>
            </a:pPr>
            <a:r>
              <a:t>Giải quyết triệt để va chạm, bảo đảm dòng hàng lưu thông liên tục.</a:t>
            </a:r>
          </a:p>
        </p:txBody>
      </p:sp>
      <p:sp>
        <p:nvSpPr>
          <p:cNvPr id="12" name="Rounded Rectangle 11"/>
          <p:cNvSpPr/>
          <p:nvPr/>
        </p:nvSpPr>
        <p:spPr>
          <a:xfrm>
            <a:off x="731520" y="5084064"/>
            <a:ext cx="5212080" cy="1097280"/>
          </a:xfrm>
          <a:prstGeom prst="roundRect">
            <a:avLst>
              <a:gd name="adj" fmla="val 2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5248656"/>
            <a:ext cx="4809744" cy="768096"/>
          </a:xfrm>
          <a:prstGeom prst="rect">
            <a:avLst/>
          </a:prstGeom>
          <a:noFill/>
        </p:spPr>
        <p:txBody>
          <a:bodyPr wrap="square" lIns="0" tIns="0" rIns="0" bIns="0">
            <a:spAutoFit/>
          </a:bodyPr>
          <a:lstStyle/>
          <a:p>
            <a:pPr>
              <a:spcAft>
                <a:spcPts val="300"/>
              </a:spcAft>
              <a:defRPr sz="1400" b="1">
                <a:solidFill>
                  <a:srgbClr val="0F2B48"/>
                </a:solidFill>
              </a:defRPr>
            </a:pPr>
            <a:r>
              <a:t>04. Cơ Cấu Kẹp Ôm Sát Tự Nắn Phẳng</a:t>
            </a:r>
          </a:p>
          <a:p>
            <a:pPr>
              <a:spcAft>
                <a:spcPts val="800"/>
              </a:spcAft>
              <a:defRPr sz="1000">
                <a:solidFill>
                  <a:srgbClr val="64748B"/>
                </a:solidFill>
              </a:defRPr>
            </a:pPr>
            <a:r>
              <a:t>Phanh dừng chính xác X=0m, tự động căn giữa và ép phẳng kiện hàng.</a:t>
            </a:r>
          </a:p>
        </p:txBody>
      </p:sp>
      <p:sp>
        <p:nvSpPr>
          <p:cNvPr id="14" name="Rounded Rectangle 13"/>
          <p:cNvSpPr/>
          <p:nvPr/>
        </p:nvSpPr>
        <p:spPr>
          <a:xfrm>
            <a:off x="6217920" y="1463040"/>
            <a:ext cx="5212080" cy="1097280"/>
          </a:xfrm>
          <a:prstGeom prst="roundRect">
            <a:avLst>
              <a:gd name="adj" fmla="val 2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9088" y="1627632"/>
            <a:ext cx="4809744" cy="768096"/>
          </a:xfrm>
          <a:prstGeom prst="rect">
            <a:avLst/>
          </a:prstGeom>
          <a:noFill/>
        </p:spPr>
        <p:txBody>
          <a:bodyPr wrap="square" lIns="0" tIns="0" rIns="0" bIns="0">
            <a:spAutoFit/>
          </a:bodyPr>
          <a:lstStyle/>
          <a:p>
            <a:pPr>
              <a:spcAft>
                <a:spcPts val="300"/>
              </a:spcAft>
              <a:defRPr sz="1400" b="1">
                <a:solidFill>
                  <a:srgbClr val="0F2B48"/>
                </a:solidFill>
              </a:defRPr>
            </a:pPr>
            <a:r>
              <a:t>05. Xóa Bỏ Điểm Mù Cánh Tay</a:t>
            </a:r>
          </a:p>
          <a:p>
            <a:pPr>
              <a:spcAft>
                <a:spcPts val="800"/>
              </a:spcAft>
              <a:defRPr sz="1000">
                <a:solidFill>
                  <a:srgbClr val="64748B"/>
                </a:solidFill>
              </a:defRPr>
            </a:pPr>
            <a:r>
              <a:t>Khắc phục nhược điểm camera trên trần bị che khuất bằng góc nhìn đối xứng.</a:t>
            </a:r>
          </a:p>
        </p:txBody>
      </p:sp>
      <p:sp>
        <p:nvSpPr>
          <p:cNvPr id="16" name="Rounded Rectangle 15"/>
          <p:cNvSpPr/>
          <p:nvPr/>
        </p:nvSpPr>
        <p:spPr>
          <a:xfrm>
            <a:off x="6217920" y="2670048"/>
            <a:ext cx="5212080" cy="1097280"/>
          </a:xfrm>
          <a:prstGeom prst="roundRect">
            <a:avLst>
              <a:gd name="adj" fmla="val 2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9088" y="2834640"/>
            <a:ext cx="4809744" cy="768096"/>
          </a:xfrm>
          <a:prstGeom prst="rect">
            <a:avLst/>
          </a:prstGeom>
          <a:noFill/>
        </p:spPr>
        <p:txBody>
          <a:bodyPr wrap="square" lIns="0" tIns="0" rIns="0" bIns="0">
            <a:spAutoFit/>
          </a:bodyPr>
          <a:lstStyle/>
          <a:p>
            <a:pPr>
              <a:spcAft>
                <a:spcPts val="300"/>
              </a:spcAft>
              <a:defRPr sz="1400" b="1">
                <a:solidFill>
                  <a:srgbClr val="0F2B48"/>
                </a:solidFill>
              </a:defRPr>
            </a:pPr>
            <a:r>
              <a:t>06. Mắt Thần Thị Giác AI Góc Nghiêng</a:t>
            </a:r>
          </a:p>
          <a:p>
            <a:pPr>
              <a:spcAft>
                <a:spcPts val="800"/>
              </a:spcAft>
              <a:defRPr sz="1000">
                <a:solidFill>
                  <a:srgbClr val="64748B"/>
                </a:solidFill>
              </a:defRPr>
            </a:pPr>
            <a:r>
              <a:t>Thiết kế trạm quét độc quyền, nhìn rõ cả mặt trên và mặt trước kiện hàng.</a:t>
            </a:r>
          </a:p>
        </p:txBody>
      </p:sp>
      <p:sp>
        <p:nvSpPr>
          <p:cNvPr id="18" name="Rounded Rectangle 17"/>
          <p:cNvSpPr/>
          <p:nvPr/>
        </p:nvSpPr>
        <p:spPr>
          <a:xfrm>
            <a:off x="6217920" y="3877056"/>
            <a:ext cx="5212080" cy="1097280"/>
          </a:xfrm>
          <a:prstGeom prst="roundRect">
            <a:avLst>
              <a:gd name="adj" fmla="val 2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19088" y="4041648"/>
            <a:ext cx="4809744" cy="768096"/>
          </a:xfrm>
          <a:prstGeom prst="rect">
            <a:avLst/>
          </a:prstGeom>
          <a:noFill/>
        </p:spPr>
        <p:txBody>
          <a:bodyPr wrap="square" lIns="0" tIns="0" rIns="0" bIns="0">
            <a:spAutoFit/>
          </a:bodyPr>
          <a:lstStyle/>
          <a:p>
            <a:pPr>
              <a:spcAft>
                <a:spcPts val="300"/>
              </a:spcAft>
              <a:defRPr sz="1400" b="1">
                <a:solidFill>
                  <a:srgbClr val="0F2B48"/>
                </a:solidFill>
              </a:defRPr>
            </a:pPr>
            <a:r>
              <a:t>07. Minh Chứng Hiệu Quả 25 Lần Chạy</a:t>
            </a:r>
          </a:p>
          <a:p>
            <a:pPr>
              <a:spcAft>
                <a:spcPts val="800"/>
              </a:spcAft>
              <a:defRPr sz="1000">
                <a:solidFill>
                  <a:srgbClr val="64748B"/>
                </a:solidFill>
              </a:defRPr>
            </a:pPr>
            <a:r>
              <a:t>Dữ liệu thực tế: Năng suất tăng 47%, 100% thành công, 0 sự cố va chạm.</a:t>
            </a:r>
          </a:p>
        </p:txBody>
      </p:sp>
      <p:sp>
        <p:nvSpPr>
          <p:cNvPr id="20" name="Rounded Rectangle 19"/>
          <p:cNvSpPr/>
          <p:nvPr/>
        </p:nvSpPr>
        <p:spPr>
          <a:xfrm>
            <a:off x="6217920" y="5084064"/>
            <a:ext cx="5212080" cy="1097280"/>
          </a:xfrm>
          <a:prstGeom prst="roundRect">
            <a:avLst>
              <a:gd name="adj" fmla="val 2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19088" y="5248656"/>
            <a:ext cx="4809744" cy="768096"/>
          </a:xfrm>
          <a:prstGeom prst="rect">
            <a:avLst/>
          </a:prstGeom>
          <a:noFill/>
        </p:spPr>
        <p:txBody>
          <a:bodyPr wrap="square" lIns="0" tIns="0" rIns="0" bIns="0">
            <a:spAutoFit/>
          </a:bodyPr>
          <a:lstStyle/>
          <a:p>
            <a:pPr>
              <a:spcAft>
                <a:spcPts val="300"/>
              </a:spcAft>
              <a:defRPr sz="1400" b="1">
                <a:solidFill>
                  <a:srgbClr val="0F2B48"/>
                </a:solidFill>
              </a:defRPr>
            </a:pPr>
            <a:r>
              <a:t>08. Lộ Trình Hoàn Thiện &amp; Nghiệm Thu</a:t>
            </a:r>
          </a:p>
          <a:p>
            <a:pPr>
              <a:spcAft>
                <a:spcPts val="800"/>
              </a:spcAft>
              <a:defRPr sz="1000">
                <a:solidFill>
                  <a:srgbClr val="64748B"/>
                </a:solidFill>
              </a:defRPr>
            </a:pPr>
            <a:r>
              <a:t>Kế hoạch kiểm thử tải nặng Tuần 08 và bàn giao Milestone 2 tại Tuần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601200" cy="868680"/>
          </a:xfrm>
          <a:prstGeom prst="rect">
            <a:avLst/>
          </a:prstGeom>
          <a:noFill/>
        </p:spPr>
        <p:txBody>
          <a:bodyPr wrap="square" lIns="0" tIns="0" rIns="0" bIns="0">
            <a:spAutoFit/>
          </a:bodyPr>
          <a:lstStyle/>
          <a:p>
            <a:pPr>
              <a:spcAft>
                <a:spcPts val="200"/>
              </a:spcAft>
              <a:defRPr sz="950" b="1">
                <a:solidFill>
                  <a:srgbClr val="0284C7"/>
                </a:solidFill>
              </a:defRPr>
            </a:pPr>
            <a:r>
              <a:t>TỔNG QUAN TIẾN ĐỘ</a:t>
            </a:r>
          </a:p>
          <a:p>
            <a:pPr>
              <a:defRPr sz="2000" b="1">
                <a:solidFill>
                  <a:srgbClr val="F1F5F9"/>
                </a:solidFill>
              </a:defRPr>
            </a:pPr>
            <a:r>
              <a:t>Những Bước Nhảy Vọt Nổi Bật (Week 06 -&gt; Week 07)</a:t>
            </a:r>
          </a:p>
        </p:txBody>
      </p:sp>
      <p:sp>
        <p:nvSpPr>
          <p:cNvPr id="5" name="TextBox 4"/>
          <p:cNvSpPr txBox="1"/>
          <p:nvPr/>
        </p:nvSpPr>
        <p:spPr>
          <a:xfrm>
            <a:off x="10515600" y="228600"/>
            <a:ext cx="1097280" cy="594360"/>
          </a:xfrm>
          <a:prstGeom prst="rect">
            <a:avLst/>
          </a:prstGeom>
          <a:noFill/>
        </p:spPr>
        <p:txBody>
          <a:bodyPr wrap="none" lIns="0" tIns="0" rIns="0" bIns="0">
            <a:spAutoFit/>
          </a:bodyPr>
          <a:lstStyle/>
          <a:p>
            <a:pPr algn="r">
              <a:defRPr sz="1300" b="1">
                <a:solidFill>
                  <a:srgbClr val="0284C7"/>
                </a:solidFill>
              </a:defRPr>
            </a:pPr>
            <a:r>
              <a:t>03/12</a:t>
            </a:r>
          </a:p>
        </p:txBody>
      </p:sp>
      <p:sp>
        <p:nvSpPr>
          <p:cNvPr id="6" name="Rounded Rectangle 5"/>
          <p:cNvSpPr/>
          <p:nvPr/>
        </p:nvSpPr>
        <p:spPr>
          <a:xfrm>
            <a:off x="731520" y="1463040"/>
            <a:ext cx="5212080" cy="4846320"/>
          </a:xfrm>
          <a:prstGeom prst="roundRect">
            <a:avLst>
              <a:gd name="adj" fmla="val 2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627632"/>
            <a:ext cx="4809744" cy="4517136"/>
          </a:xfrm>
          <a:prstGeom prst="rect">
            <a:avLst/>
          </a:prstGeom>
          <a:noFill/>
        </p:spPr>
        <p:txBody>
          <a:bodyPr wrap="square" lIns="0" tIns="0" rIns="0" bIns="0">
            <a:spAutoFit/>
          </a:bodyPr>
          <a:lstStyle/>
          <a:p>
            <a:pPr>
              <a:spcAft>
                <a:spcPts val="300"/>
              </a:spcAft>
              <a:defRPr sz="1400" b="1">
                <a:solidFill>
                  <a:srgbClr val="0F2B48"/>
                </a:solidFill>
              </a:defRPr>
            </a:pPr>
            <a:r>
              <a:t>Thách Thức Cần Giải Quyết</a:t>
            </a:r>
          </a:p>
          <a:p>
            <a:pPr>
              <a:spcAft>
                <a:spcPts val="800"/>
              </a:spcAft>
              <a:defRPr sz="1000">
                <a:solidFill>
                  <a:srgbClr val="64748B"/>
                </a:solidFill>
              </a:defRPr>
            </a:pPr>
            <a:r>
              <a:t>Các hạn chế được chỉ ra trong đợt đánh giá trước</a:t>
            </a:r>
          </a:p>
          <a:p>
            <a:pPr>
              <a:spcAft>
                <a:spcPts val="600"/>
              </a:spcAft>
            </a:pPr>
            <a:r>
              <a:rPr b="1" sz="1100">
                <a:solidFill>
                  <a:srgbClr val="0F2B48"/>
                </a:solidFill>
              </a:rPr>
              <a:t>Tốc Độ Chưa Tối Ưu: </a:t>
            </a:r>
            <a:r>
              <a:rPr sz="1100">
                <a:solidFill>
                  <a:srgbClr val="1E293B"/>
                </a:solidFill>
              </a:rPr>
              <a:t>Robot dừng nghỉ tới 10 lần trong mỗi chu kỳ khiến thời gian xử lý kéo dài ~25 giây/sản phẩm.</a:t>
            </a:r>
          </a:p>
          <a:p>
            <a:pPr>
              <a:spcAft>
                <a:spcPts val="600"/>
              </a:spcAft>
            </a:pPr>
            <a:r>
              <a:rPr b="1" sz="1100">
                <a:solidFill>
                  <a:srgbClr val="0F2B48"/>
                </a:solidFill>
              </a:rPr>
              <a:t>Rủi Ro Va Chạm Băng Tải: </a:t>
            </a:r>
            <a:r>
              <a:rPr sz="1100">
                <a:solidFill>
                  <a:srgbClr val="1E293B"/>
                </a:solidFill>
              </a:rPr>
              <a:t>Các kiện hàng phía sau trôi tới dễ đâm vào kiện hàng đang được robot giữ để tính toán.</a:t>
            </a:r>
          </a:p>
          <a:p>
            <a:pPr>
              <a:spcAft>
                <a:spcPts val="600"/>
              </a:spcAft>
            </a:pPr>
            <a:r>
              <a:rPr b="1" sz="1100">
                <a:solidFill>
                  <a:srgbClr val="0F2B48"/>
                </a:solidFill>
              </a:rPr>
              <a:t>Điểm Mù Quan Sát: </a:t>
            </a:r>
            <a:r>
              <a:rPr sz="1100">
                <a:solidFill>
                  <a:srgbClr val="1E293B"/>
                </a:solidFill>
              </a:rPr>
              <a:t>Camera gắn vuông góc trên trần bị cánh tay cơ khí che khuất đúng lúc chuẩn bị gắp hàng.</a:t>
            </a:r>
          </a:p>
          <a:p>
            <a:pPr>
              <a:spcAft>
                <a:spcPts val="600"/>
              </a:spcAft>
            </a:pPr>
            <a:r>
              <a:rPr b="1" sz="1100">
                <a:solidFill>
                  <a:srgbClr val="0F2B48"/>
                </a:solidFill>
              </a:rPr>
              <a:t>Độ Ôm Khít Mỏ Kẹp: </a:t>
            </a:r>
            <a:r>
              <a:rPr sz="1100">
                <a:solidFill>
                  <a:srgbClr val="1E293B"/>
                </a:solidFill>
              </a:rPr>
              <a:t>Kiện hàng bị xô lệch nhẹ do quán tính trôi của băng tải và mỏ kẹp chưa tự nắn phẳng.</a:t>
            </a:r>
          </a:p>
        </p:txBody>
      </p:sp>
      <p:sp>
        <p:nvSpPr>
          <p:cNvPr id="8" name="Rounded Rectangle 7"/>
          <p:cNvSpPr/>
          <p:nvPr/>
        </p:nvSpPr>
        <p:spPr>
          <a:xfrm>
            <a:off x="6217920" y="1463040"/>
            <a:ext cx="5212080" cy="4846320"/>
          </a:xfrm>
          <a:prstGeom prst="roundRect">
            <a:avLst>
              <a:gd name="adj" fmla="val 2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19088" y="1627632"/>
            <a:ext cx="4809744" cy="4517136"/>
          </a:xfrm>
          <a:prstGeom prst="rect">
            <a:avLst/>
          </a:prstGeom>
          <a:noFill/>
        </p:spPr>
        <p:txBody>
          <a:bodyPr wrap="square" lIns="0" tIns="0" rIns="0" bIns="0">
            <a:spAutoFit/>
          </a:bodyPr>
          <a:lstStyle/>
          <a:p>
            <a:pPr>
              <a:spcAft>
                <a:spcPts val="300"/>
              </a:spcAft>
              <a:defRPr sz="1400" b="1">
                <a:solidFill>
                  <a:srgbClr val="0F2B48"/>
                </a:solidFill>
              </a:defRPr>
            </a:pPr>
            <a:r>
              <a:t>Giải Pháp Đột Phá Đã Hoàn Thiện</a:t>
            </a:r>
          </a:p>
          <a:p>
            <a:pPr>
              <a:spcAft>
                <a:spcPts val="800"/>
              </a:spcAft>
              <a:defRPr sz="1000">
                <a:solidFill>
                  <a:srgbClr val="64748B"/>
                </a:solidFill>
              </a:defRPr>
            </a:pPr>
            <a:r>
              <a:t>Đã kiểm chứng thực tế trên mô hình số hóa chuẩn công nghiệp</a:t>
            </a:r>
          </a:p>
          <a:p>
            <a:pPr>
              <a:spcAft>
                <a:spcPts val="600"/>
              </a:spcAft>
            </a:pPr>
            <a:r>
              <a:rPr b="1" sz="1100">
                <a:solidFill>
                  <a:srgbClr val="0F2B48"/>
                </a:solidFill>
              </a:rPr>
              <a:t>Năng Suất Tăng Gần Gấp Đôi (+47%): </a:t>
            </a:r>
            <a:r>
              <a:rPr sz="1100">
                <a:solidFill>
                  <a:srgbClr val="059669"/>
                </a:solidFill>
              </a:rPr>
              <a:t>Thời gian phân loại rút ngắn ngoạn mục xuống chỉ còn 13.2 - 13.6 giây/kiện hàng.</a:t>
            </a:r>
          </a:p>
          <a:p>
            <a:pPr>
              <a:spcAft>
                <a:spcPts val="600"/>
              </a:spcAft>
            </a:pPr>
            <a:r>
              <a:rPr b="1" sz="1100">
                <a:solidFill>
                  <a:srgbClr val="0F2B48"/>
                </a:solidFill>
              </a:rPr>
              <a:t>Chuyển Động Lượn Sóng 100%: </a:t>
            </a:r>
            <a:r>
              <a:rPr sz="1100">
                <a:solidFill>
                  <a:srgbClr val="059669"/>
                </a:solidFill>
              </a:rPr>
              <a:t>0 lần dừng nghỉ giữa chừng; toàn bộ chu trình là một đường uốn cong mượt mà, êm ái.</a:t>
            </a:r>
          </a:p>
          <a:p>
            <a:pPr>
              <a:spcAft>
                <a:spcPts val="600"/>
              </a:spcAft>
            </a:pPr>
            <a:r>
              <a:rPr b="1" sz="1100">
                <a:solidFill>
                  <a:srgbClr val="0F2B48"/>
                </a:solidFill>
              </a:rPr>
              <a:t>Nhấc Thoát Hiểm Trong 0.2s: </a:t>
            </a:r>
            <a:r>
              <a:rPr sz="1100">
                <a:solidFill>
                  <a:srgbClr val="059669"/>
                </a:solidFill>
              </a:rPr>
              <a:t>Bốc bổng kiện hàng lên cao ngay lập tức, cách ly hoàn toàn với dòng hàng trôi phía sau.</a:t>
            </a:r>
          </a:p>
          <a:p>
            <a:pPr>
              <a:spcAft>
                <a:spcPts val="600"/>
              </a:spcAft>
            </a:pPr>
            <a:r>
              <a:rPr b="1" sz="1100">
                <a:solidFill>
                  <a:srgbClr val="0F2B48"/>
                </a:solidFill>
              </a:rPr>
              <a:t>Thị Giác Đối Xứng Không Điểm Mù: </a:t>
            </a:r>
            <a:r>
              <a:rPr sz="1100">
                <a:solidFill>
                  <a:srgbClr val="059669"/>
                </a:solidFill>
              </a:rPr>
              <a:t>Camera đặt nghiêng 50° đối diện băng tải, thấy rõ 100% phôi từ lúc xuất hiện đến lúc gắp.</a:t>
            </a:r>
          </a:p>
          <a:p>
            <a:pPr>
              <a:spcAft>
                <a:spcPts val="600"/>
              </a:spcAft>
            </a:pPr>
            <a:r>
              <a:rPr b="1" sz="1100">
                <a:solidFill>
                  <a:srgbClr val="0F2B48"/>
                </a:solidFill>
              </a:rPr>
              <a:t>Mỏ Kẹp Tự Nắn Phẳng Thông Minh: </a:t>
            </a:r>
            <a:r>
              <a:rPr sz="1100">
                <a:solidFill>
                  <a:srgbClr val="059669"/>
                </a:solidFill>
              </a:rPr>
              <a:t>Phanh dừng triệt tiêu trượt quán tính; má cao su tự hút phẳng kiện hàng cân đối 100%.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601200" cy="868680"/>
          </a:xfrm>
          <a:prstGeom prst="rect">
            <a:avLst/>
          </a:prstGeom>
          <a:noFill/>
        </p:spPr>
        <p:txBody>
          <a:bodyPr wrap="square" lIns="0" tIns="0" rIns="0" bIns="0">
            <a:spAutoFit/>
          </a:bodyPr>
          <a:lstStyle/>
          <a:p>
            <a:pPr>
              <a:spcAft>
                <a:spcPts val="200"/>
              </a:spcAft>
              <a:defRPr sz="950" b="1">
                <a:solidFill>
                  <a:srgbClr val="0284C7"/>
                </a:solidFill>
              </a:defRPr>
            </a:pPr>
            <a:r>
              <a:t>CÔNG NGHỆ CHUYỂN ĐỘNG</a:t>
            </a:r>
          </a:p>
          <a:p>
            <a:pPr>
              <a:defRPr sz="2000" b="1">
                <a:solidFill>
                  <a:srgbClr val="F1F5F9"/>
                </a:solidFill>
              </a:defRPr>
            </a:pPr>
            <a:r>
              <a:t>Chuyển Động Lượn Sóng Mượt Mà — Bảo Vệ Tuổi Thọ Robot</a:t>
            </a:r>
          </a:p>
        </p:txBody>
      </p:sp>
      <p:sp>
        <p:nvSpPr>
          <p:cNvPr id="5" name="TextBox 4"/>
          <p:cNvSpPr txBox="1"/>
          <p:nvPr/>
        </p:nvSpPr>
        <p:spPr>
          <a:xfrm>
            <a:off x="10515600" y="228600"/>
            <a:ext cx="1097280" cy="594360"/>
          </a:xfrm>
          <a:prstGeom prst="rect">
            <a:avLst/>
          </a:prstGeom>
          <a:noFill/>
        </p:spPr>
        <p:txBody>
          <a:bodyPr wrap="none" lIns="0" tIns="0" rIns="0" bIns="0">
            <a:spAutoFit/>
          </a:bodyPr>
          <a:lstStyle/>
          <a:p>
            <a:pPr algn="r">
              <a:defRPr sz="1300" b="1">
                <a:solidFill>
                  <a:srgbClr val="0284C7"/>
                </a:solidFill>
              </a:defRPr>
            </a:pPr>
            <a:r>
              <a:t>04/12</a:t>
            </a:r>
          </a:p>
        </p:txBody>
      </p:sp>
      <p:sp>
        <p:nvSpPr>
          <p:cNvPr id="6" name="Rounded Rectangle 5"/>
          <p:cNvSpPr/>
          <p:nvPr/>
        </p:nvSpPr>
        <p:spPr>
          <a:xfrm>
            <a:off x="731520" y="1463040"/>
            <a:ext cx="5212080" cy="2377440"/>
          </a:xfrm>
          <a:prstGeom prst="roundRect">
            <a:avLst>
              <a:gd name="adj" fmla="val 2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627632"/>
            <a:ext cx="4809744" cy="2048256"/>
          </a:xfrm>
          <a:prstGeom prst="rect">
            <a:avLst/>
          </a:prstGeom>
          <a:noFill/>
        </p:spPr>
        <p:txBody>
          <a:bodyPr wrap="square" lIns="0" tIns="0" rIns="0" bIns="0">
            <a:spAutoFit/>
          </a:bodyPr>
          <a:lstStyle/>
          <a:p>
            <a:pPr>
              <a:spcAft>
                <a:spcPts val="300"/>
              </a:spcAft>
              <a:defRPr sz="1400" b="1">
                <a:solidFill>
                  <a:srgbClr val="0F2B48"/>
                </a:solidFill>
              </a:defRPr>
            </a:pPr>
            <a:r>
              <a:t>Hạn Chế Của Cách Làm Cũ (Dừng Giật Từng Bước)</a:t>
            </a:r>
          </a:p>
          <a:p>
            <a:pPr>
              <a:spcAft>
                <a:spcPts val="800"/>
              </a:spcAft>
              <a:defRPr sz="1000">
                <a:solidFill>
                  <a:srgbClr val="64748B"/>
                </a:solidFill>
              </a:defRPr>
            </a:pPr>
            <a:r>
              <a:t>Chi phí bảo trì cao và lãng phí thời gian</a:t>
            </a:r>
          </a:p>
          <a:p>
            <a:pPr>
              <a:spcAft>
                <a:spcPts val="600"/>
              </a:spcAft>
            </a:pPr>
            <a:r>
              <a:rPr b="1" sz="1100">
                <a:solidFill>
                  <a:srgbClr val="0F2B48"/>
                </a:solidFill>
              </a:rPr>
              <a:t>Cách Tiếp Cận Sơ Khai: </a:t>
            </a:r>
            <a:r>
              <a:rPr sz="1100">
                <a:solidFill>
                  <a:srgbClr val="1E293B"/>
                </a:solidFill>
              </a:rPr>
              <a:t>Robot phải di chuyển theo kiểu 'đi một đoạn - dừng lại kiểm tra': Dừng tiếp cận -&gt; Dừng gắp -&gt; Dừng nhấc -&gt; Dừng xoay -&gt; Dừng thả.</a:t>
            </a:r>
          </a:p>
          <a:p>
            <a:pPr>
              <a:spcAft>
                <a:spcPts val="600"/>
              </a:spcAft>
            </a:pPr>
            <a:r>
              <a:rPr b="1" sz="1100">
                <a:solidFill>
                  <a:srgbClr val="0F2B48"/>
                </a:solidFill>
              </a:rPr>
              <a:t>Hao Mòn Cơ Khí: </a:t>
            </a:r>
            <a:r>
              <a:rPr sz="1100">
                <a:solidFill>
                  <a:srgbClr val="1E293B"/>
                </a:solidFill>
              </a:rPr>
              <a:t>Động cơ liên tục phanh gấp rồi tăng tốc đột ngột, gây rung lắc mạnh cánh tay và làm giảm tuổi thọ hộp số.</a:t>
            </a:r>
          </a:p>
          <a:p>
            <a:pPr>
              <a:spcAft>
                <a:spcPts val="600"/>
              </a:spcAft>
            </a:pPr>
            <a:r>
              <a:rPr b="1" sz="1100">
                <a:solidFill>
                  <a:srgbClr val="0F2B48"/>
                </a:solidFill>
              </a:rPr>
              <a:t>Thời Gian Lãng Phí: </a:t>
            </a:r>
            <a:r>
              <a:rPr sz="1100">
                <a:solidFill>
                  <a:srgbClr val="1E293B"/>
                </a:solidFill>
              </a:rPr>
              <a:t>Mỗi lần dừng đỗ làm mất từ 1.5 - 2.5 giây, đẩy thời gian xử lý lên ~25 giây/sản phẩm.</a:t>
            </a:r>
          </a:p>
        </p:txBody>
      </p:sp>
      <p:sp>
        <p:nvSpPr>
          <p:cNvPr id="8" name="Rounded Rectangle 7"/>
          <p:cNvSpPr/>
          <p:nvPr/>
        </p:nvSpPr>
        <p:spPr>
          <a:xfrm>
            <a:off x="6217920" y="1463040"/>
            <a:ext cx="5212080" cy="2377440"/>
          </a:xfrm>
          <a:prstGeom prst="roundRect">
            <a:avLst>
              <a:gd name="adj" fmla="val 2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19088" y="1627632"/>
            <a:ext cx="4809744" cy="2048256"/>
          </a:xfrm>
          <a:prstGeom prst="rect">
            <a:avLst/>
          </a:prstGeom>
          <a:noFill/>
        </p:spPr>
        <p:txBody>
          <a:bodyPr wrap="square" lIns="0" tIns="0" rIns="0" bIns="0">
            <a:spAutoFit/>
          </a:bodyPr>
          <a:lstStyle/>
          <a:p>
            <a:pPr>
              <a:spcAft>
                <a:spcPts val="300"/>
              </a:spcAft>
              <a:defRPr sz="1400" b="1">
                <a:solidFill>
                  <a:srgbClr val="0F2B48"/>
                </a:solidFill>
              </a:defRPr>
            </a:pPr>
            <a:r>
              <a:t>Sáng Kiến Quỹ Đạo Lượn Sóng Mượt Mà</a:t>
            </a:r>
          </a:p>
          <a:p>
            <a:pPr>
              <a:spcAft>
                <a:spcPts val="800"/>
              </a:spcAft>
              <a:defRPr sz="1000">
                <a:solidFill>
                  <a:srgbClr val="64748B"/>
                </a:solidFill>
              </a:defRPr>
            </a:pPr>
            <a:r>
              <a:t>Tối ưu hóa đường bay liên tục không điểm dừng</a:t>
            </a:r>
          </a:p>
          <a:p>
            <a:pPr>
              <a:spcAft>
                <a:spcPts val="600"/>
              </a:spcAft>
            </a:pPr>
            <a:r>
              <a:rPr b="1" sz="1100">
                <a:solidFill>
                  <a:srgbClr val="0F2B48"/>
                </a:solidFill>
              </a:rPr>
              <a:t>Nguyên Lý Lượn Sóng: </a:t>
            </a:r>
            <a:r>
              <a:rPr sz="1100">
                <a:solidFill>
                  <a:srgbClr val="1E293B"/>
                </a:solidFill>
              </a:rPr>
              <a:t>Toàn bộ chu trình tiếp cận, gắp hàng, nhấc lên và đưa vào thùng được kết nối thành một đường cong duy nhất.</a:t>
            </a:r>
          </a:p>
          <a:p>
            <a:pPr>
              <a:spcAft>
                <a:spcPts val="600"/>
              </a:spcAft>
            </a:pPr>
            <a:r>
              <a:rPr b="1" sz="1100">
                <a:solidFill>
                  <a:srgbClr val="0F2B48"/>
                </a:solidFill>
              </a:rPr>
              <a:t>Vận Hành Êm Ái: </a:t>
            </a:r>
            <a:r>
              <a:rPr sz="1100">
                <a:solidFill>
                  <a:srgbClr val="1E293B"/>
                </a:solidFill>
              </a:rPr>
              <a:t>Robot lướt qua các điểm mốc với tốc độ ổn định, không dừng lại một tích tắc nào, triệt tiêu hoàn toàn rung lắc.</a:t>
            </a:r>
          </a:p>
          <a:p>
            <a:pPr>
              <a:spcAft>
                <a:spcPts val="600"/>
              </a:spcAft>
            </a:pPr>
            <a:r>
              <a:rPr b="1" sz="1100">
                <a:solidFill>
                  <a:srgbClr val="0F2B48"/>
                </a:solidFill>
              </a:rPr>
              <a:t>Tiết Kiệm Điện Năng: </a:t>
            </a:r>
            <a:r>
              <a:rPr sz="1100">
                <a:solidFill>
                  <a:srgbClr val="059669"/>
                </a:solidFill>
              </a:rPr>
              <a:t>Giảm thiểu dòng khởi động động cơ, tiết kiệm năng lượng tiêu thụ cho toàn bộ xưởng sản xuất.</a:t>
            </a:r>
          </a:p>
        </p:txBody>
      </p:sp>
      <p:sp>
        <p:nvSpPr>
          <p:cNvPr id="10" name="Rounded Rectangle 9"/>
          <p:cNvSpPr/>
          <p:nvPr/>
        </p:nvSpPr>
        <p:spPr>
          <a:xfrm>
            <a:off x="731520" y="3977639"/>
            <a:ext cx="10698480" cy="2331720"/>
          </a:xfrm>
          <a:prstGeom prst="roundRect">
            <a:avLst>
              <a:gd name="adj" fmla="val 2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4142231"/>
            <a:ext cx="10296144" cy="2002536"/>
          </a:xfrm>
          <a:prstGeom prst="rect">
            <a:avLst/>
          </a:prstGeom>
          <a:noFill/>
        </p:spPr>
        <p:txBody>
          <a:bodyPr wrap="square" lIns="0" tIns="0" rIns="0" bIns="0">
            <a:spAutoFit/>
          </a:bodyPr>
          <a:lstStyle/>
          <a:p>
            <a:pPr>
              <a:spcAft>
                <a:spcPts val="300"/>
              </a:spcAft>
              <a:defRPr sz="1400" b="1">
                <a:solidFill>
                  <a:srgbClr val="0F2B48"/>
                </a:solidFill>
              </a:defRPr>
            </a:pPr>
            <a:r>
              <a:t>Cơ Chế Tự Động Giữ Phẳng Cổ Tay: Tránh Vặn Xoắn Dây Cáp &amp; Kẹt Va Chạm</a:t>
            </a:r>
          </a:p>
          <a:p>
            <a:pPr>
              <a:spcAft>
                <a:spcPts val="800"/>
              </a:spcAft>
              <a:defRPr sz="1000">
                <a:solidFill>
                  <a:srgbClr val="64748B"/>
                </a:solidFill>
              </a:defRPr>
            </a:pPr>
            <a:r>
              <a:t>Bảo đảm mỏ kẹp luôn hướng thẳng đứng xuống đất ở mọi góc xoay của cánh tay</a:t>
            </a:r>
          </a:p>
          <a:p>
            <a:pPr>
              <a:spcAft>
                <a:spcPts val="600"/>
              </a:spcAft>
            </a:pPr>
            <a:r>
              <a:rPr b="1" sz="1100">
                <a:solidFill>
                  <a:srgbClr val="0F2B48"/>
                </a:solidFill>
              </a:rPr>
              <a:t>Bài Toán Vặn Cổ Tay: </a:t>
            </a:r>
            <a:r>
              <a:rPr sz="1100">
                <a:solidFill>
                  <a:srgbClr val="1E293B"/>
                </a:solidFill>
              </a:rPr>
              <a:t>Khi xoay từ băng tải sang các thùng bên cạnh, nếu không tính toán linh hoạt, cổ tay robot sẽ bị vặn ngược tới 160 độ, gây nguy cơ giằng đứt dây cáp và đập vào vách mica bảo vệ.</a:t>
            </a:r>
          </a:p>
          <a:p>
            <a:pPr>
              <a:spcAft>
                <a:spcPts val="600"/>
              </a:spcAft>
            </a:pPr>
            <a:r>
              <a:rPr b="1" sz="1100">
                <a:solidFill>
                  <a:srgbClr val="0F2B48"/>
                </a:solidFill>
              </a:rPr>
              <a:t>Thuật Toán Cân Bằng Tự Nhiên: </a:t>
            </a:r>
            <a:r>
              <a:rPr sz="1100">
                <a:solidFill>
                  <a:srgbClr val="1E293B"/>
                </a:solidFill>
              </a:rPr>
              <a:t>Hệ thống tự động điều tiết khớp cổ tay xoay bù trừ chính xác theo góc quay của thân robot, giữ mỏ kẹp luôn thẳng đứng vuông góc với mặt đất một cách hoàn toàn tự nhiên.</a:t>
            </a:r>
          </a:p>
          <a:p>
            <a:pPr>
              <a:spcAft>
                <a:spcPts val="600"/>
              </a:spcAft>
            </a:pPr>
            <a:r>
              <a:rPr b="1" sz="1100">
                <a:solidFill>
                  <a:srgbClr val="0F2B48"/>
                </a:solidFill>
              </a:rPr>
              <a:t>Lợi Ích Thực Tế: </a:t>
            </a:r>
            <a:r>
              <a:rPr sz="1100">
                <a:solidFill>
                  <a:srgbClr val="059669"/>
                </a:solidFill>
              </a:rPr>
              <a:t>100% hành trình phân loại diễn ra an toàn, dây cáp không bao giờ bị vặn xoắn, triệt tiêu nguy cơ chạm vào vách mica bảo hộ.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601200" cy="868680"/>
          </a:xfrm>
          <a:prstGeom prst="rect">
            <a:avLst/>
          </a:prstGeom>
          <a:noFill/>
        </p:spPr>
        <p:txBody>
          <a:bodyPr wrap="square" lIns="0" tIns="0" rIns="0" bIns="0">
            <a:spAutoFit/>
          </a:bodyPr>
          <a:lstStyle/>
          <a:p>
            <a:pPr>
              <a:spcAft>
                <a:spcPts val="200"/>
              </a:spcAft>
              <a:defRPr sz="950" b="1">
                <a:solidFill>
                  <a:srgbClr val="0284C7"/>
                </a:solidFill>
              </a:defRPr>
            </a:pPr>
            <a:r>
              <a:t>TỐI ƯU NĂNG SUẤT</a:t>
            </a:r>
          </a:p>
          <a:p>
            <a:pPr>
              <a:defRPr sz="2000" b="1">
                <a:solidFill>
                  <a:srgbClr val="F1F5F9"/>
                </a:solidFill>
              </a:defRPr>
            </a:pPr>
            <a:r>
              <a:t>Cơ Chế Thoát Hiểm Chớp Nhoáng (0.2s) &amp; Tăng Tốc Dòng Hàng</a:t>
            </a:r>
          </a:p>
        </p:txBody>
      </p:sp>
      <p:sp>
        <p:nvSpPr>
          <p:cNvPr id="5" name="TextBox 4"/>
          <p:cNvSpPr txBox="1"/>
          <p:nvPr/>
        </p:nvSpPr>
        <p:spPr>
          <a:xfrm>
            <a:off x="10515600" y="228600"/>
            <a:ext cx="1097280" cy="594360"/>
          </a:xfrm>
          <a:prstGeom prst="rect">
            <a:avLst/>
          </a:prstGeom>
          <a:noFill/>
        </p:spPr>
        <p:txBody>
          <a:bodyPr wrap="none" lIns="0" tIns="0" rIns="0" bIns="0">
            <a:spAutoFit/>
          </a:bodyPr>
          <a:lstStyle/>
          <a:p>
            <a:pPr algn="r">
              <a:defRPr sz="1300" b="1">
                <a:solidFill>
                  <a:srgbClr val="0284C7"/>
                </a:solidFill>
              </a:defRPr>
            </a:pPr>
            <a:r>
              <a:t>05/12</a:t>
            </a:r>
          </a:p>
        </p:txBody>
      </p:sp>
      <p:sp>
        <p:nvSpPr>
          <p:cNvPr id="6" name="Rounded Rectangle 5"/>
          <p:cNvSpPr/>
          <p:nvPr/>
        </p:nvSpPr>
        <p:spPr>
          <a:xfrm>
            <a:off x="731520" y="1463040"/>
            <a:ext cx="5212080" cy="4846320"/>
          </a:xfrm>
          <a:prstGeom prst="roundRect">
            <a:avLst>
              <a:gd name="adj" fmla="val 2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627632"/>
            <a:ext cx="4809744" cy="4517136"/>
          </a:xfrm>
          <a:prstGeom prst="rect">
            <a:avLst/>
          </a:prstGeom>
          <a:noFill/>
        </p:spPr>
        <p:txBody>
          <a:bodyPr wrap="square" lIns="0" tIns="0" rIns="0" bIns="0">
            <a:spAutoFit/>
          </a:bodyPr>
          <a:lstStyle/>
          <a:p>
            <a:pPr>
              <a:spcAft>
                <a:spcPts val="300"/>
              </a:spcAft>
              <a:defRPr sz="1400" b="1">
                <a:solidFill>
                  <a:srgbClr val="0F2B48"/>
                </a:solidFill>
              </a:defRPr>
            </a:pPr>
            <a:r>
              <a:t>Cơ Chế Nhấc Thoát Hiểm Trong 0.2 Giây</a:t>
            </a:r>
          </a:p>
          <a:p>
            <a:pPr>
              <a:spcAft>
                <a:spcPts val="800"/>
              </a:spcAft>
              <a:defRPr sz="1000">
                <a:solidFill>
                  <a:srgbClr val="64748B"/>
                </a:solidFill>
              </a:defRPr>
            </a:pPr>
            <a:r>
              <a:t>Ngăn chặn tuyệt đối va quẹt giữa các kiện hàng liên tiếp</a:t>
            </a:r>
          </a:p>
          <a:p>
            <a:pPr>
              <a:spcAft>
                <a:spcPts val="600"/>
              </a:spcAft>
            </a:pPr>
            <a:r>
              <a:rPr b="1" sz="1100">
                <a:solidFill>
                  <a:srgbClr val="0F2B48"/>
                </a:solidFill>
              </a:rPr>
              <a:t>Áp Lực Dòng Hàng: </a:t>
            </a:r>
            <a:r>
              <a:rPr sz="1100">
                <a:solidFill>
                  <a:srgbClr val="1E293B"/>
                </a:solidFill>
              </a:rPr>
              <a:t>Băng chuyền nhà máy vận hành liên tục với tốc độ 0.3 m/s. Các kiện hàng nối đuôi nhau trôi về trạm gắp.</a:t>
            </a:r>
          </a:p>
          <a:p>
            <a:pPr>
              <a:spcAft>
                <a:spcPts val="600"/>
              </a:spcAft>
            </a:pPr>
            <a:r>
              <a:rPr b="1" sz="1100">
                <a:solidFill>
                  <a:srgbClr val="0F2B48"/>
                </a:solidFill>
              </a:rPr>
              <a:t>Rủi Ro Dây Chuyền Cũ: </a:t>
            </a:r>
            <a:r>
              <a:rPr sz="1100">
                <a:solidFill>
                  <a:srgbClr val="1E293B"/>
                </a:solidFill>
              </a:rPr>
              <a:t>Sau khi kẹp hàng, nếu robot nằm yên trên mặt băng để tính đường đi, kiện hàng phía sau sẽ lao tới đâm sầm vào kiện đang giữ.</a:t>
            </a:r>
          </a:p>
          <a:p>
            <a:pPr>
              <a:spcAft>
                <a:spcPts val="600"/>
              </a:spcAft>
            </a:pPr>
            <a:r>
              <a:rPr b="1" sz="1100">
                <a:solidFill>
                  <a:srgbClr val="0F2B48"/>
                </a:solidFill>
              </a:rPr>
              <a:t>Thoát Hiểm Chớp Nhoáng: </a:t>
            </a:r>
            <a:r>
              <a:rPr sz="1100">
                <a:solidFill>
                  <a:srgbClr val="1E293B"/>
                </a:solidFill>
              </a:rPr>
              <a:t>Ngay khi 2 ngón kẹp vừa khép lại, robot bốc bổng kiện hàng lên cao +16cm chỉ trong &lt; 0.25 giây (tăng tốc gấp 2.4 lần).</a:t>
            </a:r>
          </a:p>
          <a:p>
            <a:pPr>
              <a:spcAft>
                <a:spcPts val="600"/>
              </a:spcAft>
            </a:pPr>
            <a:r>
              <a:rPr b="1" sz="1100">
                <a:solidFill>
                  <a:srgbClr val="0F2B48"/>
                </a:solidFill>
              </a:rPr>
              <a:t>Cách Ly Hoàn Toàn: </a:t>
            </a:r>
            <a:r>
              <a:rPr sz="1100">
                <a:solidFill>
                  <a:srgbClr val="1E293B"/>
                </a:solidFill>
              </a:rPr>
              <a:t>Kiện hàng được nhấc bổng lên không trung, cách ly tuyệt đối với mặt băng chuyền trước khi robot bắt đầu xoay chuyển.</a:t>
            </a:r>
          </a:p>
          <a:p>
            <a:pPr>
              <a:spcAft>
                <a:spcPts val="600"/>
              </a:spcAft>
            </a:pPr>
            <a:r>
              <a:rPr b="1" sz="1100">
                <a:solidFill>
                  <a:srgbClr val="0F2B48"/>
                </a:solidFill>
              </a:rPr>
              <a:t>Kết Quả Vận Hành: </a:t>
            </a:r>
            <a:r>
              <a:rPr sz="1100">
                <a:solidFill>
                  <a:srgbClr val="059669"/>
                </a:solidFill>
              </a:rPr>
              <a:t>Dòng hàng bên dưới tiếp tục trôi thoải mái, 0 sự cố va chạm hàng trên toàn bộ dây chuyền!</a:t>
            </a:r>
          </a:p>
        </p:txBody>
      </p:sp>
      <p:sp>
        <p:nvSpPr>
          <p:cNvPr id="8" name="Rounded Rectangle 7"/>
          <p:cNvSpPr/>
          <p:nvPr/>
        </p:nvSpPr>
        <p:spPr>
          <a:xfrm>
            <a:off x="6217920" y="1463040"/>
            <a:ext cx="5212080" cy="4846320"/>
          </a:xfrm>
          <a:prstGeom prst="roundRect">
            <a:avLst>
              <a:gd name="adj" fmla="val 2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19088" y="1627632"/>
            <a:ext cx="4809744" cy="4517136"/>
          </a:xfrm>
          <a:prstGeom prst="rect">
            <a:avLst/>
          </a:prstGeom>
          <a:noFill/>
        </p:spPr>
        <p:txBody>
          <a:bodyPr wrap="square" lIns="0" tIns="0" rIns="0" bIns="0">
            <a:spAutoFit/>
          </a:bodyPr>
          <a:lstStyle/>
          <a:p>
            <a:pPr>
              <a:spcAft>
                <a:spcPts val="300"/>
              </a:spcAft>
              <a:defRPr sz="1400" b="1">
                <a:solidFill>
                  <a:srgbClr val="0F2B48"/>
                </a:solidFill>
              </a:defRPr>
            </a:pPr>
            <a:r>
              <a:t>Tốc Độ Xử Lý Thực Tế Từng Thùng Hàng</a:t>
            </a:r>
          </a:p>
          <a:p>
            <a:pPr>
              <a:spcAft>
                <a:spcPts val="800"/>
              </a:spcAft>
              <a:defRPr sz="1000">
                <a:solidFill>
                  <a:srgbClr val="64748B"/>
                </a:solidFill>
              </a:defRPr>
            </a:pPr>
            <a:r>
              <a:t>Rút ngắn từ 35% đến 47% thời gian cho mỗi sản phẩm</a:t>
            </a:r>
          </a:p>
          <a:p>
            <a:pPr>
              <a:spcAft>
                <a:spcPts val="600"/>
              </a:spcAft>
            </a:pPr>
            <a:r>
              <a:rPr b="1" sz="1100">
                <a:solidFill>
                  <a:srgbClr val="0F2B48"/>
                </a:solidFill>
              </a:rPr>
              <a:t>Thùng Vàng (Bên phải): </a:t>
            </a:r>
            <a:r>
              <a:rPr sz="1100">
                <a:solidFill>
                  <a:srgbClr val="1E293B"/>
                </a:solidFill>
              </a:rPr>
              <a:t>Thời gian hoàn thành chỉ 13.36 giây (Rút ngắn 46.5% so với mức 24.95s trước đây). Năng suất tăng gần gấp đôi!</a:t>
            </a:r>
          </a:p>
          <a:p>
            <a:pPr>
              <a:spcAft>
                <a:spcPts val="600"/>
              </a:spcAft>
            </a:pPr>
            <a:r>
              <a:rPr b="1" sz="1100">
                <a:solidFill>
                  <a:srgbClr val="0F2B48"/>
                </a:solidFill>
              </a:rPr>
              <a:t>Thùng Đỏ (Bên trái): </a:t>
            </a:r>
            <a:r>
              <a:rPr sz="1100">
                <a:solidFill>
                  <a:srgbClr val="1E293B"/>
                </a:solidFill>
              </a:rPr>
              <a:t>Thời gian hoàn thành chỉ 13.62 giây (Rút ngắn 35.1% so với mức 21.00s trước đây).</a:t>
            </a:r>
          </a:p>
          <a:p>
            <a:pPr>
              <a:spcAft>
                <a:spcPts val="600"/>
              </a:spcAft>
            </a:pPr>
            <a:r>
              <a:rPr b="1" sz="1100">
                <a:solidFill>
                  <a:srgbClr val="0F2B48"/>
                </a:solidFill>
              </a:rPr>
              <a:t>Thùng Xanh (Phía sau): </a:t>
            </a:r>
            <a:r>
              <a:rPr sz="1100">
                <a:solidFill>
                  <a:srgbClr val="1E293B"/>
                </a:solidFill>
              </a:rPr>
              <a:t>Hành trình dài xoay 180° vòng qua tủ điều khiển chỉ mất 19.02 giây (Nhanh hơn 41.9% so với mức 32.72s).</a:t>
            </a:r>
          </a:p>
          <a:p>
            <a:pPr>
              <a:spcAft>
                <a:spcPts val="600"/>
              </a:spcAft>
            </a:pPr>
            <a:r>
              <a:rPr b="1" sz="1100">
                <a:solidFill>
                  <a:srgbClr val="0F2B48"/>
                </a:solidFill>
              </a:rPr>
              <a:t>Thời Gian Trung Bình: </a:t>
            </a:r>
            <a:r>
              <a:rPr sz="1100">
                <a:solidFill>
                  <a:srgbClr val="059669"/>
                </a:solidFill>
              </a:rPr>
              <a:t>Giảm từ 25.0 giây xuống chỉ còn 15.68 giây cho mọi vị trí thùng, nâng cao công suất nhà máy thêm ~37%.</a:t>
            </a:r>
          </a:p>
          <a:p>
            <a:pPr>
              <a:spcAft>
                <a:spcPts val="600"/>
              </a:spcAft>
            </a:pPr>
            <a:r>
              <a:rPr b="1" sz="1100">
                <a:solidFill>
                  <a:srgbClr val="0F2B48"/>
                </a:solidFill>
              </a:rPr>
              <a:t>Vận Hành Trong Ngưỡng: </a:t>
            </a:r>
            <a:r>
              <a:rPr sz="1100">
                <a:solidFill>
                  <a:srgbClr val="1E293B"/>
                </a:solidFill>
              </a:rPr>
              <a:t>Tốc độ tăng cao nhưng vẫn nằm an toàn trong giới hạn thiết kế của hãng Universal Robots, không gây quá tải động cơ.</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601200" cy="868680"/>
          </a:xfrm>
          <a:prstGeom prst="rect">
            <a:avLst/>
          </a:prstGeom>
          <a:noFill/>
        </p:spPr>
        <p:txBody>
          <a:bodyPr wrap="square" lIns="0" tIns="0" rIns="0" bIns="0">
            <a:spAutoFit/>
          </a:bodyPr>
          <a:lstStyle/>
          <a:p>
            <a:pPr>
              <a:spcAft>
                <a:spcPts val="200"/>
              </a:spcAft>
              <a:defRPr sz="950" b="1">
                <a:solidFill>
                  <a:srgbClr val="0284C7"/>
                </a:solidFill>
              </a:defRPr>
            </a:pPr>
            <a:r>
              <a:t>ĐỘ CHÍNH XÁC &amp; GIÁM SÁT</a:t>
            </a:r>
          </a:p>
          <a:p>
            <a:pPr>
              <a:defRPr sz="2000" b="1">
                <a:solidFill>
                  <a:srgbClr val="F1F5F9"/>
                </a:solidFill>
              </a:defRPr>
            </a:pPr>
            <a:r>
              <a:t>Mỏ Kẹp Tự Nắn Phẳng &amp; Bộ 3 Góc Máy Trình Chiếu Chuyên Nghiệp</a:t>
            </a:r>
          </a:p>
        </p:txBody>
      </p:sp>
      <p:sp>
        <p:nvSpPr>
          <p:cNvPr id="5" name="TextBox 4"/>
          <p:cNvSpPr txBox="1"/>
          <p:nvPr/>
        </p:nvSpPr>
        <p:spPr>
          <a:xfrm>
            <a:off x="10515600" y="228600"/>
            <a:ext cx="1097280" cy="594360"/>
          </a:xfrm>
          <a:prstGeom prst="rect">
            <a:avLst/>
          </a:prstGeom>
          <a:noFill/>
        </p:spPr>
        <p:txBody>
          <a:bodyPr wrap="none" lIns="0" tIns="0" rIns="0" bIns="0">
            <a:spAutoFit/>
          </a:bodyPr>
          <a:lstStyle/>
          <a:p>
            <a:pPr algn="r">
              <a:defRPr sz="1300" b="1">
                <a:solidFill>
                  <a:srgbClr val="0284C7"/>
                </a:solidFill>
              </a:defRPr>
            </a:pPr>
            <a:r>
              <a:t>06/12</a:t>
            </a:r>
          </a:p>
        </p:txBody>
      </p:sp>
      <p:sp>
        <p:nvSpPr>
          <p:cNvPr id="6" name="Rounded Rectangle 5"/>
          <p:cNvSpPr/>
          <p:nvPr/>
        </p:nvSpPr>
        <p:spPr>
          <a:xfrm>
            <a:off x="731520" y="1463040"/>
            <a:ext cx="5212080" cy="4846320"/>
          </a:xfrm>
          <a:prstGeom prst="roundRect">
            <a:avLst>
              <a:gd name="adj" fmla="val 2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627632"/>
            <a:ext cx="4809744" cy="4517136"/>
          </a:xfrm>
          <a:prstGeom prst="rect">
            <a:avLst/>
          </a:prstGeom>
          <a:noFill/>
        </p:spPr>
        <p:txBody>
          <a:bodyPr wrap="square" lIns="0" tIns="0" rIns="0" bIns="0">
            <a:spAutoFit/>
          </a:bodyPr>
          <a:lstStyle/>
          <a:p>
            <a:pPr>
              <a:spcAft>
                <a:spcPts val="300"/>
              </a:spcAft>
              <a:defRPr sz="1400" b="1">
                <a:solidFill>
                  <a:srgbClr val="0F2B48"/>
                </a:solidFill>
              </a:defRPr>
            </a:pPr>
            <a:r>
              <a:t>Hãm Dừng Chuẩn Xác &amp; Mỏ Kẹp Tự Nắn Phẳng</a:t>
            </a:r>
          </a:p>
          <a:p>
            <a:pPr>
              <a:spcAft>
                <a:spcPts val="800"/>
              </a:spcAft>
              <a:defRPr sz="1000">
                <a:solidFill>
                  <a:srgbClr val="64748B"/>
                </a:solidFill>
              </a:defRPr>
            </a:pPr>
            <a:r>
              <a:t>Giữ chặt kiện hàng vuông vắn, loại bỏ 100% rủi ro trượt rơi</a:t>
            </a:r>
          </a:p>
          <a:p>
            <a:pPr>
              <a:spcAft>
                <a:spcPts val="600"/>
              </a:spcAft>
            </a:pPr>
            <a:r>
              <a:rPr b="1" sz="1100">
                <a:solidFill>
                  <a:srgbClr val="0F2B48"/>
                </a:solidFill>
              </a:rPr>
              <a:t>Phanh Hãm Triệt Tiêu Quán Tính: </a:t>
            </a:r>
            <a:r>
              <a:rPr sz="1100">
                <a:solidFill>
                  <a:srgbClr val="1E293B"/>
                </a:solidFill>
              </a:rPr>
              <a:t>Hệ thống kích hoạt phanh điện tử ngay khi hàng chạm vạch, triệt tiêu độ trôi 4-6cm. Kiện hàng dừng đứng bánh chính xác 100% tại tâm trạm gắp X = 0.00m.</a:t>
            </a:r>
          </a:p>
          <a:p>
            <a:pPr>
              <a:spcAft>
                <a:spcPts val="600"/>
              </a:spcAft>
            </a:pPr>
            <a:r>
              <a:rPr b="1" sz="1100">
                <a:solidFill>
                  <a:srgbClr val="0F2B48"/>
                </a:solidFill>
              </a:rPr>
              <a:t>Khóa Hướng Thẳng Thớm: </a:t>
            </a:r>
            <a:r>
              <a:rPr sz="1100">
                <a:solidFill>
                  <a:srgbClr val="1E293B"/>
                </a:solidFill>
              </a:rPr>
              <a:t>Kiện hàng được giữ cố định theo phương thẳng đứng, luôn di chuyển ngay ngắn dọc theo mép băng tải mà không bị xoay chéo.</a:t>
            </a:r>
          </a:p>
          <a:p>
            <a:pPr>
              <a:spcAft>
                <a:spcPts val="600"/>
              </a:spcAft>
            </a:pPr>
            <a:r>
              <a:rPr b="1" sz="1100">
                <a:solidFill>
                  <a:srgbClr val="0F2B48"/>
                </a:solidFill>
              </a:rPr>
              <a:t>Cơ Cấu Tự Định Tâm Thông Minh: </a:t>
            </a:r>
            <a:r>
              <a:rPr sz="1100">
                <a:solidFill>
                  <a:srgbClr val="1E293B"/>
                </a:solidFill>
              </a:rPr>
              <a:t>Khi ngón kẹp khép lại, hai má cao su tự động nắn khối hàng khớp khít vào chính giữa và ép phẳng vuông vắn với má kẹp.</a:t>
            </a:r>
          </a:p>
          <a:p>
            <a:pPr>
              <a:spcAft>
                <a:spcPts val="600"/>
              </a:spcAft>
            </a:pPr>
            <a:r>
              <a:rPr b="1" sz="1100">
                <a:solidFill>
                  <a:srgbClr val="0F2B48"/>
                </a:solidFill>
              </a:rPr>
              <a:t>Không Còn Hiện Tượng Bay Lơ Lửng: </a:t>
            </a:r>
            <a:r>
              <a:rPr sz="1100">
                <a:solidFill>
                  <a:srgbClr val="059669"/>
                </a:solidFill>
              </a:rPr>
              <a:t>Kiện hàng được ôm trọn và giữ vững như bàn tay con người, loại bỏ hoàn toàn hiện tượng lệch bên hay rơi rớt khi robot tăng tốc.</a:t>
            </a:r>
          </a:p>
        </p:txBody>
      </p:sp>
      <p:sp>
        <p:nvSpPr>
          <p:cNvPr id="8" name="Rounded Rectangle 7"/>
          <p:cNvSpPr/>
          <p:nvPr/>
        </p:nvSpPr>
        <p:spPr>
          <a:xfrm>
            <a:off x="6217920" y="1463040"/>
            <a:ext cx="5212080" cy="4846320"/>
          </a:xfrm>
          <a:prstGeom prst="roundRect">
            <a:avLst>
              <a:gd name="adj" fmla="val 2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19088" y="1627632"/>
            <a:ext cx="4809744" cy="4517136"/>
          </a:xfrm>
          <a:prstGeom prst="rect">
            <a:avLst/>
          </a:prstGeom>
          <a:noFill/>
        </p:spPr>
        <p:txBody>
          <a:bodyPr wrap="square" lIns="0" tIns="0" rIns="0" bIns="0">
            <a:spAutoFit/>
          </a:bodyPr>
          <a:lstStyle/>
          <a:p>
            <a:pPr>
              <a:spcAft>
                <a:spcPts val="300"/>
              </a:spcAft>
              <a:defRPr sz="1400" b="1">
                <a:solidFill>
                  <a:srgbClr val="0F2B48"/>
                </a:solidFill>
              </a:defRPr>
            </a:pPr>
            <a:r>
              <a:t>Bộ 3 Góc Máy Trình Chiếu Điện Ảnh</a:t>
            </a:r>
          </a:p>
          <a:p>
            <a:pPr>
              <a:spcAft>
                <a:spcPts val="800"/>
              </a:spcAft>
              <a:defRPr sz="1000">
                <a:solidFill>
                  <a:srgbClr val="64748B"/>
                </a:solidFill>
              </a:defRPr>
            </a:pPr>
            <a:r>
              <a:t>Giám sát trực quan toàn diện hiện trường chỉ với một nút bấm</a:t>
            </a:r>
          </a:p>
          <a:p>
            <a:pPr>
              <a:spcAft>
                <a:spcPts val="600"/>
              </a:spcAft>
            </a:pPr>
            <a:r>
              <a:rPr b="1" sz="1100">
                <a:solidFill>
                  <a:srgbClr val="0F2B48"/>
                </a:solidFill>
              </a:rPr>
              <a:t>Phím [1] — Toàn Cảnh Nhà Máy (Overview): </a:t>
            </a:r>
            <a:r>
              <a:rPr sz="1100">
                <a:solidFill>
                  <a:srgbClr val="1E293B"/>
                </a:solidFill>
              </a:rPr>
              <a:t>Góc nhìn 3/4 Isometric bao quát toàn bộ băng chuyền 3.6m, robot UR10e, vách mica và 3 thùng phân loại.</a:t>
            </a:r>
          </a:p>
          <a:p>
            <a:pPr>
              <a:spcAft>
                <a:spcPts val="600"/>
              </a:spcAft>
            </a:pPr>
            <a:r>
              <a:rPr b="1" sz="1100">
                <a:solidFill>
                  <a:srgbClr val="0F2B48"/>
                </a:solidFill>
              </a:rPr>
              <a:t>Phím [2] — Giám Sát Phân Loại (Sorting View): </a:t>
            </a:r>
            <a:r>
              <a:rPr sz="1100">
                <a:solidFill>
                  <a:srgbClr val="1E293B"/>
                </a:solidFill>
              </a:rPr>
              <a:t>Góc nhìn phía trước-phải thấy rõ vòm bay của robot né vách mica và phân chia chính xác vào từng thùng.</a:t>
            </a:r>
          </a:p>
          <a:p>
            <a:pPr>
              <a:spcAft>
                <a:spcPts val="600"/>
              </a:spcAft>
            </a:pPr>
            <a:r>
              <a:rPr b="1" sz="1100">
                <a:solidFill>
                  <a:srgbClr val="0F2B48"/>
                </a:solidFill>
              </a:rPr>
              <a:t>Phím [3] — Cận Cảnh Mỏ Kẹp (Close-Up): </a:t>
            </a:r>
            <a:r>
              <a:rPr sz="1100">
                <a:solidFill>
                  <a:srgbClr val="1E293B"/>
                </a:solidFill>
              </a:rPr>
              <a:t>Góc zoom sát trạm gắp (&lt;0.9m) đặc tả từng milimet lúc mỏ kẹp hạ xuống ôm khít hai mặt bên kiện hàng.</a:t>
            </a:r>
          </a:p>
          <a:p>
            <a:pPr>
              <a:spcAft>
                <a:spcPts val="600"/>
              </a:spcAft>
            </a:pPr>
            <a:r>
              <a:rPr b="1" sz="1100">
                <a:solidFill>
                  <a:srgbClr val="0F2B48"/>
                </a:solidFill>
              </a:rPr>
              <a:t>Bảng Điều Khiển Trên Màn Hình [C]: </a:t>
            </a:r>
            <a:r>
              <a:rPr sz="1100">
                <a:solidFill>
                  <a:srgbClr val="0F2B48"/>
                </a:solidFill>
              </a:rPr>
              <a:t>Bấm phím [C] để bật thanh công cụ camera cảm ứng, hỗ trợ thuyết trình và giám sát cực kỳ mượt mà.</a:t>
            </a:r>
          </a:p>
          <a:p>
            <a:pPr>
              <a:spcAft>
                <a:spcPts val="600"/>
              </a:spcAft>
            </a:pPr>
            <a:r>
              <a:rPr b="1" sz="1100">
                <a:solidFill>
                  <a:srgbClr val="0F2B48"/>
                </a:solidFill>
              </a:rPr>
              <a:t>Thân Thiện Với Người Dùng: </a:t>
            </a:r>
            <a:r>
              <a:rPr sz="1100">
                <a:solidFill>
                  <a:srgbClr val="059669"/>
                </a:solidFill>
              </a:rPr>
              <a:t>Quản đốc nhà máy có thể dễ dàng chuyển đổi góc nhìn tức thì mà không cần thao tác chuột phức tạp.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601200" cy="868680"/>
          </a:xfrm>
          <a:prstGeom prst="rect">
            <a:avLst/>
          </a:prstGeom>
          <a:noFill/>
        </p:spPr>
        <p:txBody>
          <a:bodyPr wrap="square" lIns="0" tIns="0" rIns="0" bIns="0">
            <a:spAutoFit/>
          </a:bodyPr>
          <a:lstStyle/>
          <a:p>
            <a:pPr>
              <a:spcAft>
                <a:spcPts val="200"/>
              </a:spcAft>
              <a:defRPr sz="950" b="1">
                <a:solidFill>
                  <a:srgbClr val="0284C7"/>
                </a:solidFill>
              </a:defRPr>
            </a:pPr>
            <a:r>
              <a:t>GIẢI QUYẾT ĐIỂM MÙ</a:t>
            </a:r>
          </a:p>
          <a:p>
            <a:pPr>
              <a:defRPr sz="2000" b="1">
                <a:solidFill>
                  <a:srgbClr val="F1F5F9"/>
                </a:solidFill>
              </a:defRPr>
            </a:pPr>
            <a:r>
              <a:t>Khắc Phục Hoàn Toàn Điểm Mù Cánh Tay Của Thị Giác Máy</a:t>
            </a:r>
          </a:p>
        </p:txBody>
      </p:sp>
      <p:sp>
        <p:nvSpPr>
          <p:cNvPr id="5" name="TextBox 4"/>
          <p:cNvSpPr txBox="1"/>
          <p:nvPr/>
        </p:nvSpPr>
        <p:spPr>
          <a:xfrm>
            <a:off x="10515600" y="228600"/>
            <a:ext cx="1097280" cy="594360"/>
          </a:xfrm>
          <a:prstGeom prst="rect">
            <a:avLst/>
          </a:prstGeom>
          <a:noFill/>
        </p:spPr>
        <p:txBody>
          <a:bodyPr wrap="none" lIns="0" tIns="0" rIns="0" bIns="0">
            <a:spAutoFit/>
          </a:bodyPr>
          <a:lstStyle/>
          <a:p>
            <a:pPr algn="r">
              <a:defRPr sz="1300" b="1">
                <a:solidFill>
                  <a:srgbClr val="0284C7"/>
                </a:solidFill>
              </a:defRPr>
            </a:pPr>
            <a:r>
              <a:t>07/12</a:t>
            </a:r>
          </a:p>
        </p:txBody>
      </p:sp>
      <p:sp>
        <p:nvSpPr>
          <p:cNvPr id="6" name="Rounded Rectangle 5"/>
          <p:cNvSpPr/>
          <p:nvPr/>
        </p:nvSpPr>
        <p:spPr>
          <a:xfrm>
            <a:off x="731520" y="1463040"/>
            <a:ext cx="5212080" cy="4846320"/>
          </a:xfrm>
          <a:prstGeom prst="roundRect">
            <a:avLst>
              <a:gd name="adj" fmla="val 2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627632"/>
            <a:ext cx="4809744" cy="4517136"/>
          </a:xfrm>
          <a:prstGeom prst="rect">
            <a:avLst/>
          </a:prstGeom>
          <a:noFill/>
        </p:spPr>
        <p:txBody>
          <a:bodyPr wrap="square" lIns="0" tIns="0" rIns="0" bIns="0">
            <a:spAutoFit/>
          </a:bodyPr>
          <a:lstStyle/>
          <a:p>
            <a:pPr>
              <a:spcAft>
                <a:spcPts val="300"/>
              </a:spcAft>
              <a:defRPr sz="1400" b="1">
                <a:solidFill>
                  <a:srgbClr val="0F2B48"/>
                </a:solidFill>
              </a:defRPr>
            </a:pPr>
            <a:r>
              <a:t>Cạm Bẫy Của Thiết Kế Truyền Thống (Camera Trên Trần)</a:t>
            </a:r>
          </a:p>
          <a:p>
            <a:pPr>
              <a:spcAft>
                <a:spcPts val="800"/>
              </a:spcAft>
              <a:defRPr sz="1000">
                <a:solidFill>
                  <a:srgbClr val="64748B"/>
                </a:solidFill>
              </a:defRPr>
            </a:pPr>
            <a:r>
              <a:t>Nguyên nhân hàng đầu gây sai sót trong các nhà máy</a:t>
            </a:r>
          </a:p>
          <a:p>
            <a:pPr>
              <a:spcAft>
                <a:spcPts val="600"/>
              </a:spcAft>
            </a:pPr>
            <a:r>
              <a:rPr b="1" sz="1100">
                <a:solidFill>
                  <a:srgbClr val="0F2B48"/>
                </a:solidFill>
              </a:rPr>
              <a:t>Bố Trí Thông Thường: </a:t>
            </a:r>
            <a:r>
              <a:rPr sz="1100">
                <a:solidFill>
                  <a:srgbClr val="1E293B"/>
                </a:solidFill>
              </a:rPr>
              <a:t>Camera thường được gắn vuông góc ngay trên nóc trạm gắp để nhìn thẳng xuống băng chuyền.</a:t>
            </a:r>
          </a:p>
          <a:p>
            <a:pPr>
              <a:spcAft>
                <a:spcPts val="600"/>
              </a:spcAft>
            </a:pPr>
            <a:r>
              <a:rPr b="1" sz="1100">
                <a:solidFill>
                  <a:srgbClr val="0F2B48"/>
                </a:solidFill>
              </a:rPr>
              <a:t>Hiện Tượng Bị Che Khuất: </a:t>
            </a:r>
            <a:r>
              <a:rPr sz="1100">
                <a:solidFill>
                  <a:srgbClr val="1E293B"/>
                </a:solidFill>
              </a:rPr>
              <a:t>Khi cánh tay robot vươn ra gắp hàng, các khớp kim loại to lớn của robot vô tình chắn ngang giữa ống kính và kiện hàng.</a:t>
            </a:r>
          </a:p>
          <a:p>
            <a:pPr>
              <a:spcAft>
                <a:spcPts val="600"/>
              </a:spcAft>
            </a:pPr>
            <a:r>
              <a:rPr b="1" sz="1100">
                <a:solidFill>
                  <a:srgbClr val="0F2B48"/>
                </a:solidFill>
              </a:rPr>
              <a:t>Bóng Đổ Chập Chờn: </a:t>
            </a:r>
            <a:r>
              <a:rPr sz="1100">
                <a:solidFill>
                  <a:srgbClr val="1E293B"/>
                </a:solidFill>
              </a:rPr>
              <a:t>Cánh tay di chuyển tạo bóng râm che phủ kiện hàng, làm mắt thần bị 'chói mắt' và nhận diện sai lệch màu sắc.</a:t>
            </a:r>
          </a:p>
          <a:p>
            <a:pPr>
              <a:spcAft>
                <a:spcPts val="600"/>
              </a:spcAft>
            </a:pPr>
            <a:r>
              <a:rPr b="1" sz="1100">
                <a:solidFill>
                  <a:srgbClr val="0F2B48"/>
                </a:solidFill>
              </a:rPr>
              <a:t>Hậu Quả: </a:t>
            </a:r>
            <a:r>
              <a:rPr sz="1100">
                <a:solidFill>
                  <a:srgbClr val="1E293B"/>
                </a:solidFill>
              </a:rPr>
              <a:t>Robot bị 'mù' đúng vào khoảnh khắc chuẩn bị kẹp hàng, dẫn đến nhận diện chập chờn, kẹp hụt hoặc bỏ sót sản phẩm.</a:t>
            </a:r>
          </a:p>
        </p:txBody>
      </p:sp>
      <p:sp>
        <p:nvSpPr>
          <p:cNvPr id="8" name="Rounded Rectangle 7"/>
          <p:cNvSpPr/>
          <p:nvPr/>
        </p:nvSpPr>
        <p:spPr>
          <a:xfrm>
            <a:off x="6217920" y="1463040"/>
            <a:ext cx="5212080" cy="4846320"/>
          </a:xfrm>
          <a:prstGeom prst="roundRect">
            <a:avLst>
              <a:gd name="adj" fmla="val 2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19088" y="1627632"/>
            <a:ext cx="4809744" cy="4517136"/>
          </a:xfrm>
          <a:prstGeom prst="rect">
            <a:avLst/>
          </a:prstGeom>
          <a:noFill/>
        </p:spPr>
        <p:txBody>
          <a:bodyPr wrap="square" lIns="0" tIns="0" rIns="0" bIns="0">
            <a:spAutoFit/>
          </a:bodyPr>
          <a:lstStyle/>
          <a:p>
            <a:pPr>
              <a:spcAft>
                <a:spcPts val="300"/>
              </a:spcAft>
              <a:defRPr sz="1400" b="1">
                <a:solidFill>
                  <a:srgbClr val="0F2B48"/>
                </a:solidFill>
              </a:defRPr>
            </a:pPr>
            <a:r>
              <a:t>Sáng Kiến Đặt Camera Đối Xứng Phía Trước</a:t>
            </a:r>
          </a:p>
          <a:p>
            <a:pPr>
              <a:spcAft>
                <a:spcPts val="800"/>
              </a:spcAft>
              <a:defRPr sz="1000">
                <a:solidFill>
                  <a:srgbClr val="64748B"/>
                </a:solidFill>
              </a:defRPr>
            </a:pPr>
            <a:r>
              <a:t>Tầm nhìn thông suốt 100% trong suốt quá trình vận hành</a:t>
            </a:r>
          </a:p>
          <a:p>
            <a:pPr>
              <a:spcAft>
                <a:spcPts val="600"/>
              </a:spcAft>
            </a:pPr>
            <a:r>
              <a:rPr b="1" sz="1100">
                <a:solidFill>
                  <a:srgbClr val="0F2B48"/>
                </a:solidFill>
              </a:rPr>
              <a:t>Bố Trí Đột Phá: </a:t>
            </a:r>
            <a:r>
              <a:rPr sz="1100">
                <a:solidFill>
                  <a:srgbClr val="1E293B"/>
                </a:solidFill>
              </a:rPr>
              <a:t>Đưa camera sang phía đối diện của băng tải (cách băng tải 50cm, cao 75cm), nghiêng một góc 50° chiếu thẳng vào trạm gắp.</a:t>
            </a:r>
          </a:p>
          <a:p>
            <a:pPr>
              <a:spcAft>
                <a:spcPts val="600"/>
              </a:spcAft>
            </a:pPr>
            <a:r>
              <a:rPr b="1" sz="1100">
                <a:solidFill>
                  <a:srgbClr val="0F2B48"/>
                </a:solidFill>
              </a:rPr>
              <a:t>Robot Luôn Nằm Phía Sau: </a:t>
            </a:r>
            <a:r>
              <a:rPr sz="1100">
                <a:solidFill>
                  <a:srgbClr val="1E293B"/>
                </a:solidFill>
              </a:rPr>
              <a:t>Robot UR10e đứng làm việc ở phía sau băng chuyền. Cánh tay chỉ vươn tới từ phía sau và phía trên kiện hàng.</a:t>
            </a:r>
          </a:p>
          <a:p>
            <a:pPr>
              <a:spcAft>
                <a:spcPts val="600"/>
              </a:spcAft>
            </a:pPr>
            <a:r>
              <a:rPr b="1" sz="1100">
                <a:solidFill>
                  <a:srgbClr val="0F2B48"/>
                </a:solidFill>
              </a:rPr>
              <a:t>Mặt Hàng Luôn Hướng Về Camera: </a:t>
            </a:r>
            <a:r>
              <a:rPr sz="1100">
                <a:solidFill>
                  <a:srgbClr val="1E293B"/>
                </a:solidFill>
              </a:rPr>
              <a:t>Mặt trước và mặt trên của kiện hàng luôn hướng trọn vẹn vào ống kính máy quay mà không hề có bất kỳ vật thể nào chắn giữa.</a:t>
            </a:r>
          </a:p>
          <a:p>
            <a:pPr>
              <a:spcAft>
                <a:spcPts val="600"/>
              </a:spcAft>
            </a:pPr>
            <a:r>
              <a:rPr b="1" sz="1100">
                <a:solidFill>
                  <a:srgbClr val="0F2B48"/>
                </a:solidFill>
              </a:rPr>
              <a:t>Triệt Tiêu 100% Điểm Mù: </a:t>
            </a:r>
            <a:r>
              <a:rPr sz="1100">
                <a:solidFill>
                  <a:srgbClr val="059669"/>
                </a:solidFill>
              </a:rPr>
              <a:t>Tầm nhìn hoàn toàn thông suốt từ lúc kiện hàng trôi tới, dừng lại cho đến khi robot gắp đi!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601200" cy="868680"/>
          </a:xfrm>
          <a:prstGeom prst="rect">
            <a:avLst/>
          </a:prstGeom>
          <a:noFill/>
        </p:spPr>
        <p:txBody>
          <a:bodyPr wrap="square" lIns="0" tIns="0" rIns="0" bIns="0">
            <a:spAutoFit/>
          </a:bodyPr>
          <a:lstStyle/>
          <a:p>
            <a:pPr>
              <a:spcAft>
                <a:spcPts val="200"/>
              </a:spcAft>
              <a:defRPr sz="950" b="1">
                <a:solidFill>
                  <a:srgbClr val="0284C7"/>
                </a:solidFill>
              </a:defRPr>
            </a:pPr>
            <a:r>
              <a:t>TRẠM THỊ GIÁC CÔNG NGHIỆP</a:t>
            </a:r>
          </a:p>
          <a:p>
            <a:pPr>
              <a:defRPr sz="2000" b="1">
                <a:solidFill>
                  <a:srgbClr val="F1F5F9"/>
                </a:solidFill>
              </a:defRPr>
            </a:pPr>
            <a:r>
              <a:t>Thiết Kế Trạm Thị Giác Góc Nghiêng Chuyên Dụng Độc Quyền</a:t>
            </a:r>
          </a:p>
        </p:txBody>
      </p:sp>
      <p:sp>
        <p:nvSpPr>
          <p:cNvPr id="5" name="TextBox 4"/>
          <p:cNvSpPr txBox="1"/>
          <p:nvPr/>
        </p:nvSpPr>
        <p:spPr>
          <a:xfrm>
            <a:off x="10515600" y="228600"/>
            <a:ext cx="1097280" cy="594360"/>
          </a:xfrm>
          <a:prstGeom prst="rect">
            <a:avLst/>
          </a:prstGeom>
          <a:noFill/>
        </p:spPr>
        <p:txBody>
          <a:bodyPr wrap="none" lIns="0" tIns="0" rIns="0" bIns="0">
            <a:spAutoFit/>
          </a:bodyPr>
          <a:lstStyle/>
          <a:p>
            <a:pPr algn="r">
              <a:defRPr sz="1300" b="1">
                <a:solidFill>
                  <a:srgbClr val="0284C7"/>
                </a:solidFill>
              </a:defRPr>
            </a:pPr>
            <a:r>
              <a:t>08/12</a:t>
            </a:r>
          </a:p>
        </p:txBody>
      </p:sp>
      <p:sp>
        <p:nvSpPr>
          <p:cNvPr id="6" name="Rounded Rectangle 5"/>
          <p:cNvSpPr/>
          <p:nvPr/>
        </p:nvSpPr>
        <p:spPr>
          <a:xfrm>
            <a:off x="731520" y="1463040"/>
            <a:ext cx="5212080" cy="4846320"/>
          </a:xfrm>
          <a:prstGeom prst="roundRect">
            <a:avLst>
              <a:gd name="adj" fmla="val 2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627632"/>
            <a:ext cx="4809744" cy="4517136"/>
          </a:xfrm>
          <a:prstGeom prst="rect">
            <a:avLst/>
          </a:prstGeom>
          <a:noFill/>
        </p:spPr>
        <p:txBody>
          <a:bodyPr wrap="square" lIns="0" tIns="0" rIns="0" bIns="0">
            <a:spAutoFit/>
          </a:bodyPr>
          <a:lstStyle/>
          <a:p>
            <a:pPr>
              <a:spcAft>
                <a:spcPts val="300"/>
              </a:spcAft>
              <a:defRPr sz="1400" b="1">
                <a:solidFill>
                  <a:srgbClr val="0F2B48"/>
                </a:solidFill>
              </a:defRPr>
            </a:pPr>
            <a:r>
              <a:t>Thiết Kế Cơ Khí Chuẩn Công Nghiệp</a:t>
            </a:r>
          </a:p>
          <a:p>
            <a:pPr>
              <a:spcAft>
                <a:spcPts val="800"/>
              </a:spcAft>
              <a:defRPr sz="1000">
                <a:solidFill>
                  <a:srgbClr val="64748B"/>
                </a:solidFill>
              </a:defRPr>
            </a:pPr>
            <a:r>
              <a:t>Chắc chắn, chống rung và bố trí khoa học</a:t>
            </a:r>
          </a:p>
          <a:p>
            <a:pPr>
              <a:spcAft>
                <a:spcPts val="600"/>
              </a:spcAft>
            </a:pPr>
            <a:r>
              <a:rPr b="1" sz="1100">
                <a:solidFill>
                  <a:srgbClr val="0F2B48"/>
                </a:solidFill>
              </a:rPr>
              <a:t>Vị Trí Tối Ưu: </a:t>
            </a:r>
            <a:r>
              <a:rPr sz="1100">
                <a:solidFill>
                  <a:srgbClr val="1E293B"/>
                </a:solidFill>
              </a:rPr>
              <a:t>Đặt đối diện trạm gắp ở tọa độ chuẩn: cự ly cách tâm băng tải 50cm, độ cao 75cm, góc nghiêng chúc xuống 50°.</a:t>
            </a:r>
          </a:p>
          <a:p>
            <a:pPr>
              <a:spcAft>
                <a:spcPts val="600"/>
              </a:spcAft>
            </a:pPr>
            <a:r>
              <a:rPr b="1" sz="1100">
                <a:solidFill>
                  <a:srgbClr val="0F2B48"/>
                </a:solidFill>
              </a:rPr>
              <a:t>Khoảng Cách Lấy Nét Lý Tưởng: </a:t>
            </a:r>
            <a:r>
              <a:rPr sz="1100">
                <a:solidFill>
                  <a:srgbClr val="1E293B"/>
                </a:solidFill>
              </a:rPr>
              <a:t>Cự ly tới kiện hàng chỉ khoảng 82cm, mang lại hình ảnh độ nét cao và sắc nét từng chi tiết.</a:t>
            </a:r>
          </a:p>
          <a:p>
            <a:pPr>
              <a:spcAft>
                <a:spcPts val="600"/>
              </a:spcAft>
            </a:pPr>
            <a:r>
              <a:rPr b="1" sz="1100">
                <a:solidFill>
                  <a:srgbClr val="0F2B48"/>
                </a:solidFill>
              </a:rPr>
              <a:t>Chân Trụ Thép Công Nghiệp: </a:t>
            </a:r>
            <a:r>
              <a:rPr sz="1100">
                <a:solidFill>
                  <a:srgbClr val="1E293B"/>
                </a:solidFill>
              </a:rPr>
              <a:t>Trụ đỡ bằng kim loại vững chắc, đế bắt bu-lông chống rung lắc cơ học khi băng chuyền vận hành hết tải.</a:t>
            </a:r>
          </a:p>
          <a:p>
            <a:pPr>
              <a:spcAft>
                <a:spcPts val="600"/>
              </a:spcAft>
            </a:pPr>
            <a:r>
              <a:rPr b="1" sz="1100">
                <a:solidFill>
                  <a:srgbClr val="0F2B48"/>
                </a:solidFill>
              </a:rPr>
              <a:t>An Toàn Tuyệt Đối: </a:t>
            </a:r>
            <a:r>
              <a:rPr sz="1100">
                <a:solidFill>
                  <a:srgbClr val="059669"/>
                </a:solidFill>
              </a:rPr>
              <a:t>Nằm hoàn toàn ngoài bán kính vươn của cánh tay robot, loại trừ 100% nguy cơ va quẹt thiết bị.</a:t>
            </a:r>
          </a:p>
        </p:txBody>
      </p:sp>
      <p:sp>
        <p:nvSpPr>
          <p:cNvPr id="8" name="Rounded Rectangle 7"/>
          <p:cNvSpPr/>
          <p:nvPr/>
        </p:nvSpPr>
        <p:spPr>
          <a:xfrm>
            <a:off x="6217920" y="1463040"/>
            <a:ext cx="5212080" cy="4846320"/>
          </a:xfrm>
          <a:prstGeom prst="roundRect">
            <a:avLst>
              <a:gd name="adj" fmla="val 2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19088" y="1627632"/>
            <a:ext cx="4809744" cy="4517136"/>
          </a:xfrm>
          <a:prstGeom prst="rect">
            <a:avLst/>
          </a:prstGeom>
          <a:noFill/>
        </p:spPr>
        <p:txBody>
          <a:bodyPr wrap="square" lIns="0" tIns="0" rIns="0" bIns="0">
            <a:spAutoFit/>
          </a:bodyPr>
          <a:lstStyle/>
          <a:p>
            <a:pPr>
              <a:spcAft>
                <a:spcPts val="300"/>
              </a:spcAft>
              <a:defRPr sz="1400" b="1">
                <a:solidFill>
                  <a:srgbClr val="0F2B48"/>
                </a:solidFill>
              </a:defRPr>
            </a:pPr>
            <a:r>
              <a:t>Lợi Ích Vượt Trội Của Góc Nhìn Nghiêng 50 Độ</a:t>
            </a:r>
          </a:p>
          <a:p>
            <a:pPr>
              <a:spcAft>
                <a:spcPts val="800"/>
              </a:spcAft>
              <a:defRPr sz="1000">
                <a:solidFill>
                  <a:srgbClr val="64748B"/>
                </a:solidFill>
              </a:defRPr>
            </a:pPr>
            <a:r>
              <a:t>Độ tin cậy nhận diện cao gấp đôi thiết kế nhìn thẳng</a:t>
            </a:r>
          </a:p>
          <a:p>
            <a:pPr>
              <a:spcAft>
                <a:spcPts val="600"/>
              </a:spcAft>
            </a:pPr>
            <a:r>
              <a:rPr b="1" sz="1100">
                <a:solidFill>
                  <a:srgbClr val="0F2B48"/>
                </a:solidFill>
              </a:rPr>
              <a:t>Quan Sát Đồng Thời 2 Mặt: </a:t>
            </a:r>
            <a:r>
              <a:rPr sz="1100">
                <a:solidFill>
                  <a:srgbClr val="1E293B"/>
                </a:solidFill>
              </a:rPr>
              <a:t>Ống kính nhìn thấy đồng thời cả mặt trên và mặt trước của kiện hàng, tăng gấp đôi diện tích nhận diện màu sắc.</a:t>
            </a:r>
          </a:p>
          <a:p>
            <a:pPr>
              <a:spcAft>
                <a:spcPts val="600"/>
              </a:spcAft>
            </a:pPr>
            <a:r>
              <a:rPr b="1" sz="1100">
                <a:solidFill>
                  <a:srgbClr val="0F2B48"/>
                </a:solidFill>
              </a:rPr>
              <a:t>Không Bị Đèn Trần Gây Lóa: </a:t>
            </a:r>
            <a:r>
              <a:rPr sz="1100">
                <a:solidFill>
                  <a:srgbClr val="1E293B"/>
                </a:solidFill>
              </a:rPr>
              <a:t>Góc nghiêng tránh được hiện tượng phản chiếu ánh sáng trắng từ dàn đèn trần nhà xưởng vào ống kính.</a:t>
            </a:r>
          </a:p>
          <a:p>
            <a:pPr>
              <a:spcAft>
                <a:spcPts val="600"/>
              </a:spcAft>
            </a:pPr>
            <a:r>
              <a:rPr b="1" sz="1100">
                <a:solidFill>
                  <a:srgbClr val="0F2B48"/>
                </a:solidFill>
              </a:rPr>
              <a:t>Khung Hình Giám Sát Phụ (PiP): </a:t>
            </a:r>
            <a:r>
              <a:rPr sz="1100">
                <a:solidFill>
                  <a:srgbClr val="1E293B"/>
                </a:solidFill>
              </a:rPr>
              <a:t>Tích hợp sẵn màn hình phụ ở góc phải (Bật/Tắt bằng phím [V]) giúp nhân viên vận hành theo dõi luồng hình ảnh trực tiếp.</a:t>
            </a:r>
          </a:p>
          <a:p>
            <a:pPr>
              <a:spcAft>
                <a:spcPts val="600"/>
              </a:spcAft>
            </a:pPr>
            <a:r>
              <a:rPr b="1" sz="1100">
                <a:solidFill>
                  <a:srgbClr val="0F2B48"/>
                </a:solidFill>
              </a:rPr>
              <a:t>Độ Phân Giải Chuẩn HD: </a:t>
            </a:r>
            <a:r>
              <a:rPr sz="1100">
                <a:solidFill>
                  <a:srgbClr val="059669"/>
                </a:solidFill>
              </a:rPr>
              <a:t>Truyền tải hình ảnh mượt mà ở tốc độ 15 khung hình/giây, phản ứng tức thì không có độ trễ.</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601200" cy="868680"/>
          </a:xfrm>
          <a:prstGeom prst="rect">
            <a:avLst/>
          </a:prstGeom>
          <a:noFill/>
        </p:spPr>
        <p:txBody>
          <a:bodyPr wrap="square" lIns="0" tIns="0" rIns="0" bIns="0">
            <a:spAutoFit/>
          </a:bodyPr>
          <a:lstStyle/>
          <a:p>
            <a:pPr>
              <a:spcAft>
                <a:spcPts val="200"/>
              </a:spcAft>
              <a:defRPr sz="950" b="1">
                <a:solidFill>
                  <a:srgbClr val="0284C7"/>
                </a:solidFill>
              </a:defRPr>
            </a:pPr>
            <a:r>
              <a:t>NHẬN DIỆN THÔNG MINH</a:t>
            </a:r>
          </a:p>
          <a:p>
            <a:pPr>
              <a:defRPr sz="2000" b="1">
                <a:solidFill>
                  <a:srgbClr val="F1F5F9"/>
                </a:solidFill>
              </a:defRPr>
            </a:pPr>
            <a:r>
              <a:t>Tự Động Phân Loại Màu Sắc &amp; Định Vị Kiện Hàng Chuẩn Xác</a:t>
            </a:r>
          </a:p>
        </p:txBody>
      </p:sp>
      <p:sp>
        <p:nvSpPr>
          <p:cNvPr id="5" name="TextBox 4"/>
          <p:cNvSpPr txBox="1"/>
          <p:nvPr/>
        </p:nvSpPr>
        <p:spPr>
          <a:xfrm>
            <a:off x="10515600" y="228600"/>
            <a:ext cx="1097280" cy="594360"/>
          </a:xfrm>
          <a:prstGeom prst="rect">
            <a:avLst/>
          </a:prstGeom>
          <a:noFill/>
        </p:spPr>
        <p:txBody>
          <a:bodyPr wrap="none" lIns="0" tIns="0" rIns="0" bIns="0">
            <a:spAutoFit/>
          </a:bodyPr>
          <a:lstStyle/>
          <a:p>
            <a:pPr algn="r">
              <a:defRPr sz="1300" b="1">
                <a:solidFill>
                  <a:srgbClr val="0284C7"/>
                </a:solidFill>
              </a:defRPr>
            </a:pPr>
            <a:r>
              <a:t>09/12</a:t>
            </a:r>
          </a:p>
        </p:txBody>
      </p:sp>
      <p:sp>
        <p:nvSpPr>
          <p:cNvPr id="6" name="Rounded Rectangle 5"/>
          <p:cNvSpPr/>
          <p:nvPr/>
        </p:nvSpPr>
        <p:spPr>
          <a:xfrm>
            <a:off x="731520" y="1463040"/>
            <a:ext cx="5212080" cy="4846320"/>
          </a:xfrm>
          <a:prstGeom prst="roundRect">
            <a:avLst>
              <a:gd name="adj" fmla="val 2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627632"/>
            <a:ext cx="4809744" cy="4517136"/>
          </a:xfrm>
          <a:prstGeom prst="rect">
            <a:avLst/>
          </a:prstGeom>
          <a:noFill/>
        </p:spPr>
        <p:txBody>
          <a:bodyPr wrap="square" lIns="0" tIns="0" rIns="0" bIns="0">
            <a:spAutoFit/>
          </a:bodyPr>
          <a:lstStyle/>
          <a:p>
            <a:pPr>
              <a:spcAft>
                <a:spcPts val="300"/>
              </a:spcAft>
              <a:defRPr sz="1400" b="1">
                <a:solidFill>
                  <a:srgbClr val="0F2B48"/>
                </a:solidFill>
              </a:defRPr>
            </a:pPr>
            <a:r>
              <a:t>Thuật Toán Nhận Diện Thông Minh Kháng Ánh Sáng</a:t>
            </a:r>
          </a:p>
          <a:p>
            <a:pPr>
              <a:spcAft>
                <a:spcPts val="800"/>
              </a:spcAft>
              <a:defRPr sz="1000">
                <a:solidFill>
                  <a:srgbClr val="64748B"/>
                </a:solidFill>
              </a:defRPr>
            </a:pPr>
            <a:r>
              <a:t>Nhận diện chính xác 100% không phụ thuộc điều kiện nhà xưởng</a:t>
            </a:r>
          </a:p>
          <a:p>
            <a:pPr>
              <a:spcAft>
                <a:spcPts val="600"/>
              </a:spcAft>
            </a:pPr>
            <a:r>
              <a:rPr b="1" sz="1100">
                <a:solidFill>
                  <a:srgbClr val="0F2B48"/>
                </a:solidFill>
              </a:rPr>
              <a:t>Bộ Lọc Màu Chuyên Dụng: </a:t>
            </a:r>
            <a:r>
              <a:rPr sz="1100">
                <a:solidFill>
                  <a:srgbClr val="1E293B"/>
                </a:solidFill>
              </a:rPr>
              <a:t>Sử dụng thuật toán tách dải màu độc lập với độ sáng, giúp mắt thần không bị đánh lừa khi ánh nắng thay đổi hay bóng người đi qua.</a:t>
            </a:r>
          </a:p>
          <a:p>
            <a:pPr>
              <a:spcAft>
                <a:spcPts val="600"/>
              </a:spcAft>
            </a:pPr>
            <a:r>
              <a:rPr b="1" sz="1100">
                <a:solidFill>
                  <a:srgbClr val="0F2B48"/>
                </a:solidFill>
              </a:rPr>
              <a:t>Phân Biệt Tức Thì 3 Màu Chuẩn: </a:t>
            </a:r>
            <a:r>
              <a:rPr sz="1100">
                <a:solidFill>
                  <a:srgbClr val="1E293B"/>
                </a:solidFill>
              </a:rPr>
              <a:t>Tự động phân loại 3 dòng sản phẩm công nghiệp: Màu Đỏ tươi, Màu Vàng tươi, và Màu Xanh dương.</a:t>
            </a:r>
          </a:p>
          <a:p>
            <a:pPr>
              <a:spcAft>
                <a:spcPts val="600"/>
              </a:spcAft>
            </a:pPr>
            <a:r>
              <a:rPr b="1" sz="1100">
                <a:solidFill>
                  <a:srgbClr val="0F2B48"/>
                </a:solidFill>
              </a:rPr>
              <a:t>Bộ Lọc Khử Nhiễu Kép: </a:t>
            </a:r>
            <a:r>
              <a:rPr sz="1100">
                <a:solidFill>
                  <a:srgbClr val="1E293B"/>
                </a:solidFill>
              </a:rPr>
              <a:t>Tự động loại bỏ các đốm sáng phản chiếu, bụi bẩn li ti trên băng tải để chỉ tập trung vào kiện hàng thật.</a:t>
            </a:r>
          </a:p>
          <a:p>
            <a:pPr>
              <a:spcAft>
                <a:spcPts val="600"/>
              </a:spcAft>
            </a:pPr>
            <a:r>
              <a:rPr b="1" sz="1100">
                <a:solidFill>
                  <a:srgbClr val="0F2B48"/>
                </a:solidFill>
              </a:rPr>
              <a:t>Hiển Thị Trực Quan (HUD): </a:t>
            </a:r>
            <a:r>
              <a:rPr sz="1100">
                <a:solidFill>
                  <a:srgbClr val="059669"/>
                </a:solidFill>
              </a:rPr>
              <a:t>Khung nhận diện hiển thị tên màu và tọa độ thực tế ngay trên màn hình giám sát để người vận hành kiểm tra.</a:t>
            </a:r>
          </a:p>
        </p:txBody>
      </p:sp>
      <p:sp>
        <p:nvSpPr>
          <p:cNvPr id="8" name="Rounded Rectangle 7"/>
          <p:cNvSpPr/>
          <p:nvPr/>
        </p:nvSpPr>
        <p:spPr>
          <a:xfrm>
            <a:off x="6217920" y="1463040"/>
            <a:ext cx="5212080" cy="4846320"/>
          </a:xfrm>
          <a:prstGeom prst="roundRect">
            <a:avLst>
              <a:gd name="adj" fmla="val 2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19088" y="1627632"/>
            <a:ext cx="4809744" cy="4517136"/>
          </a:xfrm>
          <a:prstGeom prst="rect">
            <a:avLst/>
          </a:prstGeom>
          <a:noFill/>
        </p:spPr>
        <p:txBody>
          <a:bodyPr wrap="square" lIns="0" tIns="0" rIns="0" bIns="0">
            <a:spAutoFit/>
          </a:bodyPr>
          <a:lstStyle/>
          <a:p>
            <a:pPr>
              <a:spcAft>
                <a:spcPts val="300"/>
              </a:spcAft>
              <a:defRPr sz="1400" b="1">
                <a:solidFill>
                  <a:srgbClr val="0F2B48"/>
                </a:solidFill>
              </a:defRPr>
            </a:pPr>
            <a:r>
              <a:t>Định Vị Tọa Độ Kiện Hàng Chuẩn Xác Từng Milimet</a:t>
            </a:r>
          </a:p>
          <a:p>
            <a:pPr>
              <a:spcAft>
                <a:spcPts val="800"/>
              </a:spcAft>
              <a:defRPr sz="1000">
                <a:solidFill>
                  <a:srgbClr val="64748B"/>
                </a:solidFill>
              </a:defRPr>
            </a:pPr>
            <a:r>
              <a:t>Tự động điều phối cánh tay robot không cần con người can thiệp</a:t>
            </a:r>
          </a:p>
          <a:p>
            <a:pPr>
              <a:spcAft>
                <a:spcPts val="600"/>
              </a:spcAft>
            </a:pPr>
            <a:r>
              <a:rPr b="1" sz="1100">
                <a:solidFill>
                  <a:srgbClr val="0F2B48"/>
                </a:solidFill>
              </a:rPr>
              <a:t>Độ Chính Xác Cực Cao: </a:t>
            </a:r>
            <a:r>
              <a:rPr sz="1100">
                <a:solidFill>
                  <a:srgbClr val="1E293B"/>
                </a:solidFill>
              </a:rPr>
              <a:t>Tính toán trọng tâm hình học của khối hàng với sai số chưa tới 1.5 milimet.</a:t>
            </a:r>
          </a:p>
          <a:p>
            <a:pPr>
              <a:spcAft>
                <a:spcPts val="600"/>
              </a:spcAft>
            </a:pPr>
            <a:r>
              <a:rPr b="1" sz="1100">
                <a:solidFill>
                  <a:srgbClr val="0F2B48"/>
                </a:solidFill>
              </a:rPr>
              <a:t>Truyền Dữ Liệu Tức Thì: </a:t>
            </a:r>
            <a:r>
              <a:rPr sz="1100">
                <a:solidFill>
                  <a:srgbClr val="1E293B"/>
                </a:solidFill>
              </a:rPr>
              <a:t>Tọa độ 3 chiều (Dài, Rộng, Cao) được bắn trực tiếp vào bộ điều khiển robot ở tốc độ 15 lần/giây.</a:t>
            </a:r>
          </a:p>
          <a:p>
            <a:pPr>
              <a:spcAft>
                <a:spcPts val="600"/>
              </a:spcAft>
            </a:pPr>
            <a:r>
              <a:rPr b="1" sz="1100">
                <a:solidFill>
                  <a:srgbClr val="0F2B48"/>
                </a:solidFill>
              </a:rPr>
              <a:t>Tự Động Điều Phối Điểm Đến: </a:t>
            </a:r>
            <a:r>
              <a:rPr sz="1100">
                <a:solidFill>
                  <a:srgbClr val="1E293B"/>
                </a:solidFill>
              </a:rPr>
              <a:t>Khối Đỏ tự động chuyển về Thùng Đỏ bên trái; Khối Vàng về Thùng Vàng bên phải; Khối Xanh về Thùng Xanh phía sau.</a:t>
            </a:r>
          </a:p>
          <a:p>
            <a:pPr>
              <a:spcAft>
                <a:spcPts val="600"/>
              </a:spcAft>
            </a:pPr>
            <a:r>
              <a:rPr b="1" sz="1100">
                <a:solidFill>
                  <a:srgbClr val="0F2B48"/>
                </a:solidFill>
              </a:rPr>
              <a:t>Tự Động Hóa Khép Kín: </a:t>
            </a:r>
            <a:r>
              <a:rPr sz="1100">
                <a:solidFill>
                  <a:srgbClr val="059669"/>
                </a:solidFill>
              </a:rPr>
              <a:t>Toàn bộ chu trình từ phát hiện, dừng băng tải, gắp hàng đến phân loại diễn ra tự động 100% không cần can thiệp.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601200" cy="868680"/>
          </a:xfrm>
          <a:prstGeom prst="rect">
            <a:avLst/>
          </a:prstGeom>
          <a:noFill/>
        </p:spPr>
        <p:txBody>
          <a:bodyPr wrap="square" lIns="0" tIns="0" rIns="0" bIns="0">
            <a:spAutoFit/>
          </a:bodyPr>
          <a:lstStyle/>
          <a:p>
            <a:pPr>
              <a:spcAft>
                <a:spcPts val="200"/>
              </a:spcAft>
              <a:defRPr sz="950" b="1">
                <a:solidFill>
                  <a:srgbClr val="0284C7"/>
                </a:solidFill>
              </a:defRPr>
            </a:pPr>
            <a:r>
              <a:t>HIỆU QUẢ THỰC NGHIỆM</a:t>
            </a:r>
          </a:p>
          <a:p>
            <a:pPr>
              <a:defRPr sz="2000" b="1">
                <a:solidFill>
                  <a:srgbClr val="F1F5F9"/>
                </a:solidFill>
              </a:defRPr>
            </a:pPr>
            <a:r>
              <a:t>Minh Chứng Hiệu Quả Thực Tế — Thử Nghiệm 25 Kiện Hàng Liên Tục</a:t>
            </a:r>
          </a:p>
        </p:txBody>
      </p:sp>
      <p:sp>
        <p:nvSpPr>
          <p:cNvPr id="5" name="TextBox 4"/>
          <p:cNvSpPr txBox="1"/>
          <p:nvPr/>
        </p:nvSpPr>
        <p:spPr>
          <a:xfrm>
            <a:off x="10515600" y="228600"/>
            <a:ext cx="1097280" cy="594360"/>
          </a:xfrm>
          <a:prstGeom prst="rect">
            <a:avLst/>
          </a:prstGeom>
          <a:noFill/>
        </p:spPr>
        <p:txBody>
          <a:bodyPr wrap="none" lIns="0" tIns="0" rIns="0" bIns="0">
            <a:spAutoFit/>
          </a:bodyPr>
          <a:lstStyle/>
          <a:p>
            <a:pPr algn="r">
              <a:defRPr sz="1300" b="1">
                <a:solidFill>
                  <a:srgbClr val="0284C7"/>
                </a:solidFill>
              </a:defRPr>
            </a:pPr>
            <a:r>
              <a:t>10/12</a:t>
            </a:r>
          </a:p>
        </p:txBody>
      </p:sp>
      <p:graphicFrame>
        <p:nvGraphicFramePr>
          <p:cNvPr id="6" name="Table 5"/>
          <p:cNvGraphicFramePr>
            <a:graphicFrameLocks noGrp="1"/>
          </p:cNvGraphicFramePr>
          <p:nvPr/>
        </p:nvGraphicFramePr>
        <p:xfrm>
          <a:off x="731520" y="1463040"/>
          <a:ext cx="5486400" cy="2468880"/>
        </p:xfrm>
        <a:graphic>
          <a:graphicData uri="http://schemas.openxmlformats.org/drawingml/2006/table">
            <a:tbl>
              <a:tblPr firstRow="1" bandRow="1">
                <a:tableStyleId>{5C22544A-7EE6-4342-B048-85BDC9FD1C3A}</a:tableStyleId>
              </a:tblPr>
              <a:tblGrid>
                <a:gridCol w="2194560"/>
                <a:gridCol w="1554480"/>
                <a:gridCol w="1737360"/>
              </a:tblGrid>
              <a:tr h="274320">
                <a:tc>
                  <a:txBody>
                    <a:bodyPr/>
                    <a:lstStyle/>
                    <a:p>
                      <a:pPr algn="ctr">
                        <a:defRPr sz="900" b="1">
                          <a:solidFill>
                            <a:srgbClr val="F1F5F9"/>
                          </a:solidFill>
                        </a:defRPr>
                      </a:pPr>
                      <a:r>
                        <a:t>Chỉ Số Vận Hành (KPI)</a:t>
                      </a:r>
                    </a:p>
                  </a:txBody>
                  <a:tcPr>
                    <a:solidFill>
                      <a:srgbClr val="0F2B48"/>
                    </a:solidFill>
                  </a:tcPr>
                </a:tc>
                <a:tc>
                  <a:txBody>
                    <a:bodyPr/>
                    <a:lstStyle/>
                    <a:p>
                      <a:pPr algn="ctr">
                        <a:defRPr sz="900" b="1">
                          <a:solidFill>
                            <a:srgbClr val="F1F5F9"/>
                          </a:solidFill>
                        </a:defRPr>
                      </a:pPr>
                      <a:r>
                        <a:t>Công Nghệ Cũ</a:t>
                      </a:r>
                    </a:p>
                  </a:txBody>
                  <a:tcPr>
                    <a:solidFill>
                      <a:srgbClr val="0F2B48"/>
                    </a:solidFill>
                  </a:tcPr>
                </a:tc>
                <a:tc>
                  <a:txBody>
                    <a:bodyPr/>
                    <a:lstStyle/>
                    <a:p>
                      <a:pPr algn="ctr">
                        <a:defRPr sz="900" b="1">
                          <a:solidFill>
                            <a:srgbClr val="F1F5F9"/>
                          </a:solidFill>
                        </a:defRPr>
                      </a:pPr>
                      <a:r>
                        <a:t>Giải Pháp Mới (Week 07)</a:t>
                      </a:r>
                    </a:p>
                  </a:txBody>
                  <a:tcPr>
                    <a:solidFill>
                      <a:srgbClr val="0F2B48"/>
                    </a:solidFill>
                  </a:tcPr>
                </a:tc>
              </a:tr>
              <a:tr h="274320">
                <a:tc>
                  <a:txBody>
                    <a:bodyPr/>
                    <a:lstStyle/>
                    <a:p>
                      <a:pPr>
                        <a:defRPr sz="900" b="1">
                          <a:solidFill>
                            <a:srgbClr val="1E293B"/>
                          </a:solidFill>
                        </a:defRPr>
                      </a:pPr>
                      <a:r>
                        <a:t>Số lần dừng giật</a:t>
                      </a:r>
                    </a:p>
                  </a:txBody>
                  <a:tcPr>
                    <a:solidFill>
                      <a:srgbClr val="F1F5F9"/>
                    </a:solidFill>
                  </a:tcPr>
                </a:tc>
                <a:tc>
                  <a:txBody>
                    <a:bodyPr/>
                    <a:lstStyle/>
                    <a:p>
                      <a:pPr>
                        <a:defRPr sz="900">
                          <a:solidFill>
                            <a:srgbClr val="1E293B"/>
                          </a:solidFill>
                        </a:defRPr>
                      </a:pPr>
                      <a:r>
                        <a:t>10 lần dừng/chu kỳ</a:t>
                      </a:r>
                    </a:p>
                  </a:txBody>
                  <a:tcPr>
                    <a:solidFill>
                      <a:srgbClr val="F1F5F9"/>
                    </a:solidFill>
                  </a:tcPr>
                </a:tc>
                <a:tc>
                  <a:txBody>
                    <a:bodyPr/>
                    <a:lstStyle/>
                    <a:p>
                      <a:pPr>
                        <a:defRPr sz="900">
                          <a:solidFill>
                            <a:srgbClr val="1E293B"/>
                          </a:solidFill>
                        </a:defRPr>
                      </a:pPr>
                      <a:r>
                        <a:t>0 lần (Mượt mà 100%)</a:t>
                      </a:r>
                    </a:p>
                  </a:txBody>
                  <a:tcPr>
                    <a:solidFill>
                      <a:srgbClr val="F1F5F9"/>
                    </a:solidFill>
                  </a:tcPr>
                </a:tc>
              </a:tr>
              <a:tr h="274320">
                <a:tc>
                  <a:txBody>
                    <a:bodyPr/>
                    <a:lstStyle/>
                    <a:p>
                      <a:pPr>
                        <a:defRPr sz="900" b="1">
                          <a:solidFill>
                            <a:srgbClr val="1E293B"/>
                          </a:solidFill>
                        </a:defRPr>
                      </a:pPr>
                      <a:r>
                        <a:t>Chu kỳ Thùng Vàng</a:t>
                      </a:r>
                    </a:p>
                  </a:txBody>
                  <a:tcPr>
                    <a:solidFill>
                      <a:srgbClr val="FFFFFF"/>
                    </a:solidFill>
                  </a:tcPr>
                </a:tc>
                <a:tc>
                  <a:txBody>
                    <a:bodyPr/>
                    <a:lstStyle/>
                    <a:p>
                      <a:pPr>
                        <a:defRPr sz="900">
                          <a:solidFill>
                            <a:srgbClr val="1E293B"/>
                          </a:solidFill>
                        </a:defRPr>
                      </a:pPr>
                      <a:r>
                        <a:t>24.95 giây</a:t>
                      </a:r>
                    </a:p>
                  </a:txBody>
                  <a:tcPr>
                    <a:solidFill>
                      <a:srgbClr val="FFFFFF"/>
                    </a:solidFill>
                  </a:tcPr>
                </a:tc>
                <a:tc>
                  <a:txBody>
                    <a:bodyPr/>
                    <a:lstStyle/>
                    <a:p>
                      <a:pPr>
                        <a:defRPr sz="900">
                          <a:solidFill>
                            <a:srgbClr val="1E293B"/>
                          </a:solidFill>
                        </a:defRPr>
                      </a:pPr>
                      <a:r>
                        <a:t>13.36 giây (-46.5%)</a:t>
                      </a:r>
                    </a:p>
                  </a:txBody>
                  <a:tcPr>
                    <a:solidFill>
                      <a:srgbClr val="FFFFFF"/>
                    </a:solidFill>
                  </a:tcPr>
                </a:tc>
              </a:tr>
              <a:tr h="274320">
                <a:tc>
                  <a:txBody>
                    <a:bodyPr/>
                    <a:lstStyle/>
                    <a:p>
                      <a:pPr>
                        <a:defRPr sz="900" b="1">
                          <a:solidFill>
                            <a:srgbClr val="1E293B"/>
                          </a:solidFill>
                        </a:defRPr>
                      </a:pPr>
                      <a:r>
                        <a:t>Chu kỳ Thùng Đỏ</a:t>
                      </a:r>
                    </a:p>
                  </a:txBody>
                  <a:tcPr>
                    <a:solidFill>
                      <a:srgbClr val="F1F5F9"/>
                    </a:solidFill>
                  </a:tcPr>
                </a:tc>
                <a:tc>
                  <a:txBody>
                    <a:bodyPr/>
                    <a:lstStyle/>
                    <a:p>
                      <a:pPr>
                        <a:defRPr sz="900">
                          <a:solidFill>
                            <a:srgbClr val="1E293B"/>
                          </a:solidFill>
                        </a:defRPr>
                      </a:pPr>
                      <a:r>
                        <a:t>21.00 giây</a:t>
                      </a:r>
                    </a:p>
                  </a:txBody>
                  <a:tcPr>
                    <a:solidFill>
                      <a:srgbClr val="F1F5F9"/>
                    </a:solidFill>
                  </a:tcPr>
                </a:tc>
                <a:tc>
                  <a:txBody>
                    <a:bodyPr/>
                    <a:lstStyle/>
                    <a:p>
                      <a:pPr>
                        <a:defRPr sz="900">
                          <a:solidFill>
                            <a:srgbClr val="1E293B"/>
                          </a:solidFill>
                        </a:defRPr>
                      </a:pPr>
                      <a:r>
                        <a:t>13.62 giây (-35.1%)</a:t>
                      </a:r>
                    </a:p>
                  </a:txBody>
                  <a:tcPr>
                    <a:solidFill>
                      <a:srgbClr val="F1F5F9"/>
                    </a:solidFill>
                  </a:tcPr>
                </a:tc>
              </a:tr>
              <a:tr h="274320">
                <a:tc>
                  <a:txBody>
                    <a:bodyPr/>
                    <a:lstStyle/>
                    <a:p>
                      <a:pPr>
                        <a:defRPr sz="900" b="1">
                          <a:solidFill>
                            <a:srgbClr val="1E293B"/>
                          </a:solidFill>
                        </a:defRPr>
                      </a:pPr>
                      <a:r>
                        <a:t>Chu kỳ Thùng Xanh</a:t>
                      </a:r>
                    </a:p>
                  </a:txBody>
                  <a:tcPr>
                    <a:solidFill>
                      <a:srgbClr val="FFFFFF"/>
                    </a:solidFill>
                  </a:tcPr>
                </a:tc>
                <a:tc>
                  <a:txBody>
                    <a:bodyPr/>
                    <a:lstStyle/>
                    <a:p>
                      <a:pPr>
                        <a:defRPr sz="900">
                          <a:solidFill>
                            <a:srgbClr val="1E293B"/>
                          </a:solidFill>
                        </a:defRPr>
                      </a:pPr>
                      <a:r>
                        <a:t>32.72 giây</a:t>
                      </a:r>
                    </a:p>
                  </a:txBody>
                  <a:tcPr>
                    <a:solidFill>
                      <a:srgbClr val="FFFFFF"/>
                    </a:solidFill>
                  </a:tcPr>
                </a:tc>
                <a:tc>
                  <a:txBody>
                    <a:bodyPr/>
                    <a:lstStyle/>
                    <a:p>
                      <a:pPr>
                        <a:defRPr sz="900">
                          <a:solidFill>
                            <a:srgbClr val="1E293B"/>
                          </a:solidFill>
                        </a:defRPr>
                      </a:pPr>
                      <a:r>
                        <a:t>19.02 giây (-41.9%)</a:t>
                      </a:r>
                    </a:p>
                  </a:txBody>
                  <a:tcPr>
                    <a:solidFill>
                      <a:srgbClr val="FFFFFF"/>
                    </a:solidFill>
                  </a:tcPr>
                </a:tc>
              </a:tr>
              <a:tr h="274320">
                <a:tc>
                  <a:txBody>
                    <a:bodyPr/>
                    <a:lstStyle/>
                    <a:p>
                      <a:pPr>
                        <a:defRPr sz="900" b="1">
                          <a:solidFill>
                            <a:srgbClr val="1E293B"/>
                          </a:solidFill>
                        </a:defRPr>
                      </a:pPr>
                      <a:r>
                        <a:t>Chu kỳ Trung Bình</a:t>
                      </a:r>
                    </a:p>
                  </a:txBody>
                  <a:tcPr>
                    <a:solidFill>
                      <a:srgbClr val="F1F5F9"/>
                    </a:solidFill>
                  </a:tcPr>
                </a:tc>
                <a:tc>
                  <a:txBody>
                    <a:bodyPr/>
                    <a:lstStyle/>
                    <a:p>
                      <a:pPr>
                        <a:defRPr sz="900">
                          <a:solidFill>
                            <a:srgbClr val="1E293B"/>
                          </a:solidFill>
                        </a:defRPr>
                      </a:pPr>
                      <a:r>
                        <a:t>25.00 giây</a:t>
                      </a:r>
                    </a:p>
                  </a:txBody>
                  <a:tcPr>
                    <a:solidFill>
                      <a:srgbClr val="F1F5F9"/>
                    </a:solidFill>
                  </a:tcPr>
                </a:tc>
                <a:tc>
                  <a:txBody>
                    <a:bodyPr/>
                    <a:lstStyle/>
                    <a:p>
                      <a:pPr>
                        <a:defRPr sz="900">
                          <a:solidFill>
                            <a:srgbClr val="1E293B"/>
                          </a:solidFill>
                        </a:defRPr>
                      </a:pPr>
                      <a:r>
                        <a:t>15.68 giây (-37.3%)</a:t>
                      </a:r>
                    </a:p>
                  </a:txBody>
                  <a:tcPr>
                    <a:solidFill>
                      <a:srgbClr val="F1F5F9"/>
                    </a:solidFill>
                  </a:tcPr>
                </a:tc>
              </a:tr>
              <a:tr h="274320">
                <a:tc>
                  <a:txBody>
                    <a:bodyPr/>
                    <a:lstStyle/>
                    <a:p>
                      <a:pPr>
                        <a:defRPr sz="900" b="1">
                          <a:solidFill>
                            <a:srgbClr val="1E293B"/>
                          </a:solidFill>
                        </a:defRPr>
                      </a:pPr>
                      <a:r>
                        <a:t>Tỷ lệ gắp thành công</a:t>
                      </a:r>
                    </a:p>
                  </a:txBody>
                  <a:tcPr>
                    <a:solidFill>
                      <a:srgbClr val="FFFFFF"/>
                    </a:solidFill>
                  </a:tcPr>
                </a:tc>
                <a:tc>
                  <a:txBody>
                    <a:bodyPr/>
                    <a:lstStyle/>
                    <a:p>
                      <a:pPr>
                        <a:defRPr sz="900">
                          <a:solidFill>
                            <a:srgbClr val="1E293B"/>
                          </a:solidFill>
                        </a:defRPr>
                      </a:pPr>
                      <a:r>
                        <a:t>Đạt yêu cầu</a:t>
                      </a:r>
                    </a:p>
                  </a:txBody>
                  <a:tcPr>
                    <a:solidFill>
                      <a:srgbClr val="FFFFFF"/>
                    </a:solidFill>
                  </a:tcPr>
                </a:tc>
                <a:tc>
                  <a:txBody>
                    <a:bodyPr/>
                    <a:lstStyle/>
                    <a:p>
                      <a:pPr>
                        <a:defRPr sz="900">
                          <a:solidFill>
                            <a:srgbClr val="1E293B"/>
                          </a:solidFill>
                        </a:defRPr>
                      </a:pPr>
                      <a:r>
                        <a:t>100.0% (25/25 kiện)</a:t>
                      </a:r>
                    </a:p>
                  </a:txBody>
                  <a:tcPr>
                    <a:solidFill>
                      <a:srgbClr val="FFFFFF"/>
                    </a:solidFill>
                  </a:tcPr>
                </a:tc>
              </a:tr>
              <a:tr h="274320">
                <a:tc>
                  <a:txBody>
                    <a:bodyPr/>
                    <a:lstStyle/>
                    <a:p>
                      <a:pPr>
                        <a:defRPr sz="900" b="1">
                          <a:solidFill>
                            <a:srgbClr val="1E293B"/>
                          </a:solidFill>
                        </a:defRPr>
                      </a:pPr>
                      <a:r>
                        <a:t>Tỷ lệ phân loại đúng</a:t>
                      </a:r>
                    </a:p>
                  </a:txBody>
                  <a:tcPr>
                    <a:solidFill>
                      <a:srgbClr val="F1F5F9"/>
                    </a:solidFill>
                  </a:tcPr>
                </a:tc>
                <a:tc>
                  <a:txBody>
                    <a:bodyPr/>
                    <a:lstStyle/>
                    <a:p>
                      <a:pPr>
                        <a:defRPr sz="900">
                          <a:solidFill>
                            <a:srgbClr val="1E293B"/>
                          </a:solidFill>
                        </a:defRPr>
                      </a:pPr>
                      <a:r>
                        <a:t>Đạt yêu cầu</a:t>
                      </a:r>
                    </a:p>
                  </a:txBody>
                  <a:tcPr>
                    <a:solidFill>
                      <a:srgbClr val="F1F5F9"/>
                    </a:solidFill>
                  </a:tcPr>
                </a:tc>
                <a:tc>
                  <a:txBody>
                    <a:bodyPr/>
                    <a:lstStyle/>
                    <a:p>
                      <a:pPr>
                        <a:defRPr sz="900">
                          <a:solidFill>
                            <a:srgbClr val="1E293B"/>
                          </a:solidFill>
                        </a:defRPr>
                      </a:pPr>
                      <a:r>
                        <a:t>100.0% (25/25 kiện)</a:t>
                      </a:r>
                    </a:p>
                  </a:txBody>
                  <a:tcPr>
                    <a:solidFill>
                      <a:srgbClr val="F1F5F9"/>
                    </a:solidFill>
                  </a:tcPr>
                </a:tc>
              </a:tr>
              <a:tr h="274320">
                <a:tc>
                  <a:txBody>
                    <a:bodyPr/>
                    <a:lstStyle/>
                    <a:p>
                      <a:pPr>
                        <a:defRPr sz="900" b="1">
                          <a:solidFill>
                            <a:srgbClr val="1E293B"/>
                          </a:solidFill>
                        </a:defRPr>
                      </a:pPr>
                      <a:r>
                        <a:t>Sự cố va chạm hàng</a:t>
                      </a:r>
                    </a:p>
                  </a:txBody>
                  <a:tcPr>
                    <a:solidFill>
                      <a:srgbClr val="FFFFFF"/>
                    </a:solidFill>
                  </a:tcPr>
                </a:tc>
                <a:tc>
                  <a:txBody>
                    <a:bodyPr/>
                    <a:lstStyle/>
                    <a:p>
                      <a:pPr>
                        <a:defRPr sz="900">
                          <a:solidFill>
                            <a:srgbClr val="1E293B"/>
                          </a:solidFill>
                        </a:defRPr>
                      </a:pPr>
                      <a:r>
                        <a:t>Thỉnh thoảng va chạm</a:t>
                      </a:r>
                    </a:p>
                  </a:txBody>
                  <a:tcPr>
                    <a:solidFill>
                      <a:srgbClr val="FFFFFF"/>
                    </a:solidFill>
                  </a:tcPr>
                </a:tc>
                <a:tc>
                  <a:txBody>
                    <a:bodyPr/>
                    <a:lstStyle/>
                    <a:p>
                      <a:pPr>
                        <a:defRPr sz="900">
                          <a:solidFill>
                            <a:srgbClr val="1E293B"/>
                          </a:solidFill>
                        </a:defRPr>
                      </a:pPr>
                      <a:r>
                        <a:t>0 sự cố (Thoát hiểm 0.2s)</a:t>
                      </a:r>
                    </a:p>
                  </a:txBody>
                  <a:tcPr>
                    <a:solidFill>
                      <a:srgbClr val="FFFFFF"/>
                    </a:solidFill>
                  </a:tcPr>
                </a:tc>
              </a:tr>
            </a:tbl>
          </a:graphicData>
        </a:graphic>
      </p:graphicFrame>
      <p:pic>
        <p:nvPicPr>
          <p:cNvPr id="7" name="Picture 6" descr="cycle_time_benchmark.png"/>
          <p:cNvPicPr>
            <a:picLocks noChangeAspect="1"/>
          </p:cNvPicPr>
          <p:nvPr/>
        </p:nvPicPr>
        <p:blipFill>
          <a:blip r:embed="rId2"/>
          <a:stretch>
            <a:fillRect/>
          </a:stretch>
        </p:blipFill>
        <p:spPr>
          <a:xfrm>
            <a:off x="6400800" y="1463040"/>
            <a:ext cx="5029200" cy="2468880"/>
          </a:xfrm>
          <a:prstGeom prst="rect">
            <a:avLst/>
          </a:prstGeom>
        </p:spPr>
      </p:pic>
      <p:sp>
        <p:nvSpPr>
          <p:cNvPr id="8" name="Rounded Rectangle 7"/>
          <p:cNvSpPr/>
          <p:nvPr/>
        </p:nvSpPr>
        <p:spPr>
          <a:xfrm>
            <a:off x="731520" y="4114800"/>
            <a:ext cx="10698480" cy="2194560"/>
          </a:xfrm>
          <a:prstGeom prst="roundRect">
            <a:avLst>
              <a:gd name="adj" fmla="val 2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4279392"/>
            <a:ext cx="10296144" cy="1865376"/>
          </a:xfrm>
          <a:prstGeom prst="rect">
            <a:avLst/>
          </a:prstGeom>
          <a:noFill/>
        </p:spPr>
        <p:txBody>
          <a:bodyPr wrap="square" lIns="0" tIns="0" rIns="0" bIns="0">
            <a:spAutoFit/>
          </a:bodyPr>
          <a:lstStyle/>
          <a:p>
            <a:pPr>
              <a:spcAft>
                <a:spcPts val="300"/>
              </a:spcAft>
              <a:defRPr sz="1400" b="1">
                <a:solidFill>
                  <a:srgbClr val="0F2B48"/>
                </a:solidFill>
              </a:defRPr>
            </a:pPr>
            <a:r>
              <a:t>Đánh Giá Kết Quả Thực Nghiệm &amp; Giá Trị Mang Lại</a:t>
            </a:r>
          </a:p>
          <a:p>
            <a:pPr>
              <a:spcAft>
                <a:spcPts val="800"/>
              </a:spcAft>
              <a:defRPr sz="1000">
                <a:solidFill>
                  <a:srgbClr val="64748B"/>
                </a:solidFill>
              </a:defRPr>
            </a:pPr>
            <a:r>
              <a:t>Dữ liệu đo đạc thực tế từ chuỗi 25 lần gắp liên tục không ngừng nghỉ</a:t>
            </a:r>
          </a:p>
          <a:p>
            <a:pPr>
              <a:spcAft>
                <a:spcPts val="600"/>
              </a:spcAft>
            </a:pPr>
            <a:r>
              <a:rPr b="1" sz="1100">
                <a:solidFill>
                  <a:srgbClr val="0F2B48"/>
                </a:solidFill>
              </a:rPr>
              <a:t>Năng Suất Vượt Trội: </a:t>
            </a:r>
            <a:r>
              <a:rPr sz="1100">
                <a:solidFill>
                  <a:srgbClr val="1E293B"/>
                </a:solidFill>
              </a:rPr>
              <a:t>Tốc độ phân loại tăng gần gấp đôi (thời gian chu kỳ rút ngắn từ 25s xuống chỉ còn 13.3s), giúp doanh nghiệp tăng mạnh sản lượng mỗi ca làm việc.</a:t>
            </a:r>
          </a:p>
          <a:p>
            <a:pPr>
              <a:spcAft>
                <a:spcPts val="600"/>
              </a:spcAft>
            </a:pPr>
            <a:r>
              <a:rPr b="1" sz="1100">
                <a:solidFill>
                  <a:srgbClr val="0F2B48"/>
                </a:solidFill>
              </a:rPr>
              <a:t>Độ Tin Cậy Tuyệt Đối (100%): </a:t>
            </a:r>
            <a:r>
              <a:rPr sz="1100">
                <a:solidFill>
                  <a:srgbClr val="1E293B"/>
                </a:solidFill>
              </a:rPr>
              <a:t>25 trên 25 kiện hàng được gắp và thả chuẩn xác vào đúng thùng chỉ định, không một lần đánh rơi hay nhầm lẫn màu sắc.</a:t>
            </a:r>
          </a:p>
          <a:p>
            <a:pPr>
              <a:spcAft>
                <a:spcPts val="600"/>
              </a:spcAft>
            </a:pPr>
            <a:r>
              <a:rPr b="1" sz="1100">
                <a:solidFill>
                  <a:srgbClr val="0F2B48"/>
                </a:solidFill>
              </a:rPr>
              <a:t>Lưu Thông Trơn Tru 0 Va Chạm: </a:t>
            </a:r>
            <a:r>
              <a:rPr sz="1100">
                <a:solidFill>
                  <a:srgbClr val="1E293B"/>
                </a:solidFill>
              </a:rPr>
              <a:t>Cơ chế nhấc bốc bổng trong 0.2s giải phóng hoàn toàn mặt băng tải, các kiện hàng phía sau trôi tới thông suốt 100%.</a:t>
            </a:r>
          </a:p>
          <a:p>
            <a:pPr>
              <a:spcAft>
                <a:spcPts val="600"/>
              </a:spcAft>
            </a:pPr>
            <a:r>
              <a:rPr b="1" sz="1100">
                <a:solidFill>
                  <a:srgbClr val="0F2B48"/>
                </a:solidFill>
              </a:rPr>
              <a:t>Độ Ổn Định Cao: </a:t>
            </a:r>
            <a:r>
              <a:rPr sz="1100">
                <a:solidFill>
                  <a:srgbClr val="059669"/>
                </a:solidFill>
              </a:rPr>
              <a:t>Biểu đồ thời gian cho thấy các lần chạy có độ đồng đều cực kỳ cao (độ lệch chuẩn chỉ 2.76s), bảo đảm dây chuyền vận hành bền bỉ.</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601200" cy="868680"/>
          </a:xfrm>
          <a:prstGeom prst="rect">
            <a:avLst/>
          </a:prstGeom>
          <a:noFill/>
        </p:spPr>
        <p:txBody>
          <a:bodyPr wrap="square" lIns="0" tIns="0" rIns="0" bIns="0">
            <a:spAutoFit/>
          </a:bodyPr>
          <a:lstStyle/>
          <a:p>
            <a:pPr>
              <a:spcAft>
                <a:spcPts val="200"/>
              </a:spcAft>
              <a:defRPr sz="950" b="1">
                <a:solidFill>
                  <a:srgbClr val="0284C7"/>
                </a:solidFill>
              </a:defRPr>
            </a:pPr>
            <a:r>
              <a:t>LỘ TRÌNH TRIỂN KHAI</a:t>
            </a:r>
          </a:p>
          <a:p>
            <a:pPr>
              <a:defRPr sz="2000" b="1">
                <a:solidFill>
                  <a:srgbClr val="F1F5F9"/>
                </a:solidFill>
              </a:defRPr>
            </a:pPr>
            <a:r>
              <a:t>Kế Hoạch Hoàn Thiện Tuần Tới (Week 08) &amp; Lộ Trình Nghiệm Thu (Week 10)</a:t>
            </a:r>
          </a:p>
        </p:txBody>
      </p:sp>
      <p:sp>
        <p:nvSpPr>
          <p:cNvPr id="5" name="TextBox 4"/>
          <p:cNvSpPr txBox="1"/>
          <p:nvPr/>
        </p:nvSpPr>
        <p:spPr>
          <a:xfrm>
            <a:off x="10515600" y="228600"/>
            <a:ext cx="1097280" cy="594360"/>
          </a:xfrm>
          <a:prstGeom prst="rect">
            <a:avLst/>
          </a:prstGeom>
          <a:noFill/>
        </p:spPr>
        <p:txBody>
          <a:bodyPr wrap="none" lIns="0" tIns="0" rIns="0" bIns="0">
            <a:spAutoFit/>
          </a:bodyPr>
          <a:lstStyle/>
          <a:p>
            <a:pPr algn="r">
              <a:defRPr sz="1300" b="1">
                <a:solidFill>
                  <a:srgbClr val="0284C7"/>
                </a:solidFill>
              </a:defRPr>
            </a:pPr>
            <a:r>
              <a:t>11/12</a:t>
            </a:r>
          </a:p>
        </p:txBody>
      </p:sp>
      <p:sp>
        <p:nvSpPr>
          <p:cNvPr id="6" name="Rounded Rectangle 5"/>
          <p:cNvSpPr/>
          <p:nvPr/>
        </p:nvSpPr>
        <p:spPr>
          <a:xfrm>
            <a:off x="731520" y="1463040"/>
            <a:ext cx="5212080" cy="4846320"/>
          </a:xfrm>
          <a:prstGeom prst="roundRect">
            <a:avLst>
              <a:gd name="adj" fmla="val 2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627632"/>
            <a:ext cx="4809744" cy="4517136"/>
          </a:xfrm>
          <a:prstGeom prst="rect">
            <a:avLst/>
          </a:prstGeom>
          <a:noFill/>
        </p:spPr>
        <p:txBody>
          <a:bodyPr wrap="square" lIns="0" tIns="0" rIns="0" bIns="0">
            <a:spAutoFit/>
          </a:bodyPr>
          <a:lstStyle/>
          <a:p>
            <a:pPr>
              <a:spcAft>
                <a:spcPts val="300"/>
              </a:spcAft>
              <a:defRPr sz="1400" b="1">
                <a:solidFill>
                  <a:srgbClr val="0F2B48"/>
                </a:solidFill>
              </a:defRPr>
            </a:pPr>
            <a:r>
              <a:t>Kế Hoạch Công Tác Tuần Tới (Week 08)</a:t>
            </a:r>
          </a:p>
          <a:p>
            <a:pPr>
              <a:spcAft>
                <a:spcPts val="800"/>
              </a:spcAft>
              <a:defRPr sz="1000">
                <a:solidFill>
                  <a:srgbClr val="64748B"/>
                </a:solidFill>
              </a:defRPr>
            </a:pPr>
            <a:r>
              <a:t>Kiểm thử chịu tải nặng và gia cố độ bền hệ thống</a:t>
            </a:r>
          </a:p>
          <a:p>
            <a:pPr>
              <a:spcAft>
                <a:spcPts val="600"/>
              </a:spcAft>
            </a:pPr>
            <a:r>
              <a:rPr b="1" sz="1100">
                <a:solidFill>
                  <a:srgbClr val="0F2B48"/>
                </a:solidFill>
              </a:rPr>
              <a:t>Gia Cố Mắt Thần Thị Giác: </a:t>
            </a:r>
            <a:r>
              <a:rPr sz="1100">
                <a:solidFill>
                  <a:srgbClr val="1E293B"/>
                </a:solidFill>
              </a:rPr>
              <a:t>Kiểm thử thị giác máy dưới các điều kiện ánh sáng phức tạp, bóng râm thay đổi và bụi bẩn để bảo đảm nhận diện thông suốt 24/7.</a:t>
            </a:r>
          </a:p>
          <a:p>
            <a:pPr>
              <a:spcAft>
                <a:spcPts val="600"/>
              </a:spcAft>
            </a:pPr>
            <a:r>
              <a:rPr b="1" sz="1100">
                <a:solidFill>
                  <a:srgbClr val="0F2B48"/>
                </a:solidFill>
              </a:rPr>
              <a:t>Kiểm Tra Hành Lang An Toàn Tĩnh: </a:t>
            </a:r>
            <a:r>
              <a:rPr sz="1100">
                <a:solidFill>
                  <a:srgbClr val="1E293B"/>
                </a:solidFill>
              </a:rPr>
              <a:t>Tối ưu hóa khoảng cách bay an toàn vượt qua các tấm vách mica bảo vệ và tủ điều khiển của robot.</a:t>
            </a:r>
          </a:p>
          <a:p>
            <a:pPr>
              <a:spcAft>
                <a:spcPts val="600"/>
              </a:spcAft>
            </a:pPr>
            <a:r>
              <a:rPr b="1" sz="1100">
                <a:solidFill>
                  <a:srgbClr val="0F2B48"/>
                </a:solidFill>
              </a:rPr>
              <a:t>Thực Nghiệm Độ Bền 50 Kiện Hàng: </a:t>
            </a:r>
            <a:r>
              <a:rPr sz="1100">
                <a:solidFill>
                  <a:srgbClr val="1E293B"/>
                </a:solidFill>
              </a:rPr>
              <a:t>Tăng tốc độ băng tải từ 0.2m/s lên 0.4m/s để kiểm tra độ dẻo dai của robot ở công suất tối đa.</a:t>
            </a:r>
          </a:p>
          <a:p>
            <a:pPr>
              <a:spcAft>
                <a:spcPts val="600"/>
              </a:spcAft>
            </a:pPr>
            <a:r>
              <a:rPr b="1" sz="1100">
                <a:solidFill>
                  <a:srgbClr val="0F2B48"/>
                </a:solidFill>
              </a:rPr>
              <a:t>Đóng Gói Công Cụ Vận Hành: </a:t>
            </a:r>
            <a:r>
              <a:rPr sz="1100">
                <a:solidFill>
                  <a:srgbClr val="059669"/>
                </a:solidFill>
              </a:rPr>
              <a:t>Chuẩn bị sẵn bộ công cụ khởi động 1-chạm và hệ thống ghi nhật ký tự động phục vụ nghiệm thu.</a:t>
            </a:r>
          </a:p>
        </p:txBody>
      </p:sp>
      <p:sp>
        <p:nvSpPr>
          <p:cNvPr id="8" name="Rounded Rectangle 7"/>
          <p:cNvSpPr/>
          <p:nvPr/>
        </p:nvSpPr>
        <p:spPr>
          <a:xfrm>
            <a:off x="6217920" y="1463040"/>
            <a:ext cx="5212080" cy="4846320"/>
          </a:xfrm>
          <a:prstGeom prst="roundRect">
            <a:avLst>
              <a:gd name="adj" fmla="val 2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19088" y="1627632"/>
            <a:ext cx="4809744" cy="4517136"/>
          </a:xfrm>
          <a:prstGeom prst="rect">
            <a:avLst/>
          </a:prstGeom>
          <a:noFill/>
        </p:spPr>
        <p:txBody>
          <a:bodyPr wrap="square" lIns="0" tIns="0" rIns="0" bIns="0">
            <a:spAutoFit/>
          </a:bodyPr>
          <a:lstStyle/>
          <a:p>
            <a:pPr>
              <a:spcAft>
                <a:spcPts val="300"/>
              </a:spcAft>
              <a:defRPr sz="1400" b="1">
                <a:solidFill>
                  <a:srgbClr val="0F2B48"/>
                </a:solidFill>
              </a:defRPr>
            </a:pPr>
            <a:r>
              <a:t>Lộ Trình Bàn Giao Tổng Thể (Weeks 08 -&gt; 14)</a:t>
            </a:r>
          </a:p>
          <a:p>
            <a:pPr>
              <a:spcAft>
                <a:spcPts val="800"/>
              </a:spcAft>
              <a:defRPr sz="1000">
                <a:solidFill>
                  <a:srgbClr val="64748B"/>
                </a:solidFill>
              </a:defRPr>
            </a:pPr>
            <a:r>
              <a:t>Cam kết tiến độ bàn giao sản phẩm hoàn chỉnh</a:t>
            </a:r>
          </a:p>
          <a:p>
            <a:pPr>
              <a:spcAft>
                <a:spcPts val="600"/>
              </a:spcAft>
            </a:pPr>
            <a:r>
              <a:rPr b="1" sz="1100">
                <a:solidFill>
                  <a:srgbClr val="0F2B48"/>
                </a:solidFill>
              </a:rPr>
              <a:t>Tuần 08 (Tuần tới): </a:t>
            </a:r>
            <a:r>
              <a:rPr sz="1100">
                <a:solidFill>
                  <a:srgbClr val="1E293B"/>
                </a:solidFill>
              </a:rPr>
              <a:t>Hoàn tất kiểm thử tải nặng 50 kiện hàng liên tục và tinh chỉnh thị giác máy thích ứng đa môi trường.</a:t>
            </a:r>
          </a:p>
          <a:p>
            <a:pPr>
              <a:spcAft>
                <a:spcPts val="600"/>
              </a:spcAft>
            </a:pPr>
            <a:r>
              <a:rPr b="1" sz="1100">
                <a:solidFill>
                  <a:srgbClr val="0F2B48"/>
                </a:solidFill>
              </a:rPr>
              <a:t>Tuần 09: </a:t>
            </a:r>
            <a:r>
              <a:rPr sz="1100">
                <a:solidFill>
                  <a:srgbClr val="1E293B"/>
                </a:solidFill>
              </a:rPr>
              <a:t>Hoàn thiện Sổ tay vận hành (Runbook), video chứng minh và bộ hồ sơ kỹ thuật nghiệm thu cho khách hàng.</a:t>
            </a:r>
          </a:p>
          <a:p>
            <a:pPr>
              <a:spcAft>
                <a:spcPts val="600"/>
              </a:spcAft>
            </a:pPr>
            <a:r>
              <a:rPr b="1" sz="1100">
                <a:solidFill>
                  <a:srgbClr val="0F2B48"/>
                </a:solidFill>
              </a:rPr>
              <a:t>Tuần 10 (Nghiệm Thu Milestone 2): </a:t>
            </a:r>
            <a:r>
              <a:rPr sz="1100">
                <a:solidFill>
                  <a:srgbClr val="0F2B48"/>
                </a:solidFill>
              </a:rPr>
              <a:t>Bảo vệ chính thức toàn diện hệ thống: Băng tải + Phân loại màu + Thị giác thông minh + Né vật cản tĩnh.</a:t>
            </a:r>
          </a:p>
          <a:p>
            <a:pPr>
              <a:spcAft>
                <a:spcPts val="600"/>
              </a:spcAft>
            </a:pPr>
            <a:r>
              <a:rPr b="1" sz="1100">
                <a:solidFill>
                  <a:srgbClr val="0F2B48"/>
                </a:solidFill>
              </a:rPr>
              <a:t>Tuần 11 - 14 (Chặng Milestone 3): </a:t>
            </a:r>
            <a:r>
              <a:rPr sz="1100">
                <a:solidFill>
                  <a:srgbClr val="1E293B"/>
                </a:solidFill>
              </a:rPr>
              <a:t>Nâng cấp tính năng phản ứng né vật cản chuyển động cắt ngang (Dynamic Obstacle Avoidance).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601200" cy="868680"/>
          </a:xfrm>
          <a:prstGeom prst="rect">
            <a:avLst/>
          </a:prstGeom>
          <a:noFill/>
        </p:spPr>
        <p:txBody>
          <a:bodyPr wrap="square" lIns="0" tIns="0" rIns="0" bIns="0">
            <a:spAutoFit/>
          </a:bodyPr>
          <a:lstStyle/>
          <a:p>
            <a:pPr>
              <a:spcAft>
                <a:spcPts val="200"/>
              </a:spcAft>
              <a:defRPr sz="950" b="1">
                <a:solidFill>
                  <a:srgbClr val="0284C7"/>
                </a:solidFill>
              </a:defRPr>
            </a:pPr>
            <a:r>
              <a:t>TỔNG KẾT GIÁ TRỊ</a:t>
            </a:r>
          </a:p>
          <a:p>
            <a:pPr>
              <a:defRPr sz="2000" b="1">
                <a:solidFill>
                  <a:srgbClr val="F1F5F9"/>
                </a:solidFill>
              </a:defRPr>
            </a:pPr>
            <a:r>
              <a:t>Hiệu Quả Đầu Tư (ROI) &amp; Giải Đáp Thắc Mắc Cùng Khách Hàng</a:t>
            </a:r>
          </a:p>
        </p:txBody>
      </p:sp>
      <p:sp>
        <p:nvSpPr>
          <p:cNvPr id="5" name="TextBox 4"/>
          <p:cNvSpPr txBox="1"/>
          <p:nvPr/>
        </p:nvSpPr>
        <p:spPr>
          <a:xfrm>
            <a:off x="10515600" y="228600"/>
            <a:ext cx="1097280" cy="594360"/>
          </a:xfrm>
          <a:prstGeom prst="rect">
            <a:avLst/>
          </a:prstGeom>
          <a:noFill/>
        </p:spPr>
        <p:txBody>
          <a:bodyPr wrap="none" lIns="0" tIns="0" rIns="0" bIns="0">
            <a:spAutoFit/>
          </a:bodyPr>
          <a:lstStyle/>
          <a:p>
            <a:pPr algn="r">
              <a:defRPr sz="1300" b="1">
                <a:solidFill>
                  <a:srgbClr val="0284C7"/>
                </a:solidFill>
              </a:defRPr>
            </a:pPr>
            <a:r>
              <a:t>12/12</a:t>
            </a:r>
          </a:p>
        </p:txBody>
      </p:sp>
      <p:sp>
        <p:nvSpPr>
          <p:cNvPr id="6" name="Rounded Rectangle 5"/>
          <p:cNvSpPr/>
          <p:nvPr/>
        </p:nvSpPr>
        <p:spPr>
          <a:xfrm>
            <a:off x="731520" y="1463040"/>
            <a:ext cx="5212080" cy="4846320"/>
          </a:xfrm>
          <a:prstGeom prst="roundRect">
            <a:avLst>
              <a:gd name="adj" fmla="val 2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627632"/>
            <a:ext cx="4809744" cy="4517136"/>
          </a:xfrm>
          <a:prstGeom prst="rect">
            <a:avLst/>
          </a:prstGeom>
          <a:noFill/>
        </p:spPr>
        <p:txBody>
          <a:bodyPr wrap="square" lIns="0" tIns="0" rIns="0" bIns="0">
            <a:spAutoFit/>
          </a:bodyPr>
          <a:lstStyle/>
          <a:p>
            <a:pPr>
              <a:spcAft>
                <a:spcPts val="300"/>
              </a:spcAft>
              <a:defRPr sz="1400" b="1">
                <a:solidFill>
                  <a:srgbClr val="0F2B48"/>
                </a:solidFill>
              </a:defRPr>
            </a:pPr>
            <a:r>
              <a:t>Giá Trị Kinh Tế Mang Lại Cho Doanh Nghiệp</a:t>
            </a:r>
          </a:p>
          <a:p>
            <a:pPr>
              <a:spcAft>
                <a:spcPts val="800"/>
              </a:spcAft>
              <a:defRPr sz="1000">
                <a:solidFill>
                  <a:srgbClr val="64748B"/>
                </a:solidFill>
              </a:defRPr>
            </a:pPr>
            <a:r>
              <a:t>Lợi thế cạnh tranh vượt trội khi đưa vào sản xuất thực tế</a:t>
            </a:r>
          </a:p>
          <a:p>
            <a:pPr>
              <a:spcAft>
                <a:spcPts val="600"/>
              </a:spcAft>
            </a:pPr>
            <a:r>
              <a:rPr b="1" sz="1100">
                <a:solidFill>
                  <a:srgbClr val="0F2B48"/>
                </a:solidFill>
              </a:rPr>
              <a:t>Tăng Nhanh Tốc Độ Hoàn Vốn (ROI): </a:t>
            </a:r>
            <a:r>
              <a:rPr sz="1100">
                <a:solidFill>
                  <a:srgbClr val="059669"/>
                </a:solidFill>
              </a:rPr>
              <a:t>Năng suất phân loại tăng gần gấp đôi (13.3s thay vì 25s), giúp nhà máy gia tăng sản lượng với chi phí nhân công tối thiểu.</a:t>
            </a:r>
          </a:p>
          <a:p>
            <a:pPr>
              <a:spcAft>
                <a:spcPts val="600"/>
              </a:spcAft>
            </a:pPr>
            <a:r>
              <a:rPr b="1" sz="1100">
                <a:solidFill>
                  <a:srgbClr val="0F2B48"/>
                </a:solidFill>
              </a:rPr>
              <a:t>Tiết Kiệm Chi Phí Bảo Trì: </a:t>
            </a:r>
            <a:r>
              <a:rPr sz="1100">
                <a:solidFill>
                  <a:srgbClr val="059669"/>
                </a:solidFill>
              </a:rPr>
              <a:t>Quỹ đạo lượn sóng liên tục giúp động cơ và hộp số robot hoạt động êm ái, kéo dài vòng đời cơ khí lên 30-40%.</a:t>
            </a:r>
          </a:p>
          <a:p>
            <a:pPr>
              <a:spcAft>
                <a:spcPts val="600"/>
              </a:spcAft>
            </a:pPr>
            <a:r>
              <a:rPr b="1" sz="1100">
                <a:solidFill>
                  <a:srgbClr val="0F2B48"/>
                </a:solidFill>
              </a:rPr>
              <a:t>An Toàn Chuẩn Công Nghiệp: </a:t>
            </a:r>
            <a:r>
              <a:rPr sz="1100">
                <a:solidFill>
                  <a:srgbClr val="059669"/>
                </a:solidFill>
              </a:rPr>
              <a:t>Vách bảo hộ mica kết hợp cơ chế nhấc bốc bổng chống va chạm bảo vệ 100% sự nguyên vẹn của hàng hóa và thiết bị.</a:t>
            </a:r>
          </a:p>
          <a:p>
            <a:pPr>
              <a:spcAft>
                <a:spcPts val="600"/>
              </a:spcAft>
            </a:pPr>
            <a:r>
              <a:rPr b="1" sz="1100">
                <a:solidFill>
                  <a:srgbClr val="0F2B48"/>
                </a:solidFill>
              </a:rPr>
              <a:t>Vận Hành Đơn Giản, Thân Thiện: </a:t>
            </a:r>
            <a:r>
              <a:rPr sz="1100">
                <a:solidFill>
                  <a:srgbClr val="059669"/>
                </a:solidFill>
              </a:rPr>
              <a:t>Giám sát trực quan với bộ 3 góc camera chuyên nghiệp, khởi động chỉ với 1 thao tác bấm.</a:t>
            </a:r>
          </a:p>
        </p:txBody>
      </p:sp>
      <p:sp>
        <p:nvSpPr>
          <p:cNvPr id="8" name="Rounded Rectangle 7"/>
          <p:cNvSpPr/>
          <p:nvPr/>
        </p:nvSpPr>
        <p:spPr>
          <a:xfrm>
            <a:off x="6217920" y="1463040"/>
            <a:ext cx="5212080" cy="4846320"/>
          </a:xfrm>
          <a:prstGeom prst="roundRect">
            <a:avLst>
              <a:gd name="adj" fmla="val 25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19088" y="1627632"/>
            <a:ext cx="4809744" cy="4517136"/>
          </a:xfrm>
          <a:prstGeom prst="rect">
            <a:avLst/>
          </a:prstGeom>
          <a:noFill/>
        </p:spPr>
        <p:txBody>
          <a:bodyPr wrap="square" lIns="0" tIns="0" rIns="0" bIns="0">
            <a:spAutoFit/>
          </a:bodyPr>
          <a:lstStyle/>
          <a:p>
            <a:pPr>
              <a:spcAft>
                <a:spcPts val="300"/>
              </a:spcAft>
              <a:defRPr sz="1400" b="1">
                <a:solidFill>
                  <a:srgbClr val="0F2B48"/>
                </a:solidFill>
              </a:defRPr>
            </a:pPr>
            <a:r>
              <a:t>Cam Kết Chất Lượng &amp; Trao Đổi Cùng Khách Hàng</a:t>
            </a:r>
          </a:p>
          <a:p>
            <a:pPr>
              <a:spcAft>
                <a:spcPts val="800"/>
              </a:spcAft>
              <a:defRPr sz="1000">
                <a:solidFill>
                  <a:srgbClr val="64748B"/>
                </a:solidFill>
              </a:defRPr>
            </a:pPr>
            <a:r>
              <a:t>Sẵn sàng giải đáp chi tiết và trình diễn thực tế</a:t>
            </a:r>
          </a:p>
          <a:p>
            <a:pPr>
              <a:spcAft>
                <a:spcPts val="600"/>
              </a:spcAft>
            </a:pPr>
            <a:r>
              <a:rPr b="1" sz="1100">
                <a:solidFill>
                  <a:srgbClr val="0F2B48"/>
                </a:solidFill>
              </a:rPr>
              <a:t>Khả Năng Tái Lập 100%: </a:t>
            </a:r>
            <a:r>
              <a:rPr sz="1100">
                <a:solidFill>
                  <a:srgbClr val="1E293B"/>
                </a:solidFill>
              </a:rPr>
              <a:t>Hệ thống được đóng gói tự động hóa hoàn toàn, dễ dàng triển khai và sao chép trên nhiều dây chuyền.</a:t>
            </a:r>
          </a:p>
          <a:p>
            <a:pPr>
              <a:spcAft>
                <a:spcPts val="600"/>
              </a:spcAft>
            </a:pPr>
            <a:r>
              <a:rPr b="1" sz="1100">
                <a:solidFill>
                  <a:srgbClr val="0F2B48"/>
                </a:solidFill>
              </a:rPr>
              <a:t>Kiểm Thử Thực Nghiệm Nghiêm Ngặt: </a:t>
            </a:r>
            <a:r>
              <a:rPr sz="1100">
                <a:solidFill>
                  <a:srgbClr val="1E293B"/>
                </a:solidFill>
              </a:rPr>
              <a:t>Mọi thông số đều được chứng minh bằng số liệu đo đạc thực tế, không dựa trên lý thuyết suông.</a:t>
            </a:r>
          </a:p>
          <a:p>
            <a:pPr>
              <a:spcAft>
                <a:spcPts val="600"/>
              </a:spcAft>
            </a:pPr>
            <a:r>
              <a:rPr b="1" sz="1100">
                <a:solidFill>
                  <a:srgbClr val="0F2B48"/>
                </a:solidFill>
              </a:rPr>
              <a:t>Đúng Hạn Tiến Độ: </a:t>
            </a:r>
            <a:r>
              <a:rPr sz="1100">
                <a:solidFill>
                  <a:srgbClr val="0F2B48"/>
                </a:solidFill>
              </a:rPr>
              <a:t>Hệ thống vận hành đúng tiến độ và sẵn sàng cho đợt nghiệm thu Milestone 2 tại Tuần 10.</a:t>
            </a:r>
          </a:p>
          <a:p>
            <a:pPr>
              <a:spcAft>
                <a:spcPts val="600"/>
              </a:spcAft>
            </a:pPr>
            <a:r>
              <a:rPr b="1" sz="1100">
                <a:solidFill>
                  <a:srgbClr val="0F2B48"/>
                </a:solidFill>
              </a:rPr>
              <a:t>Sẵn Sàng Trao Đổi: </a:t>
            </a:r>
            <a:r>
              <a:rPr sz="1100">
                <a:solidFill>
                  <a:srgbClr val="1E293B"/>
                </a:solidFill>
              </a:rPr>
              <a:t>Kính mời Quý Khách hàng và Ban Giám khảo đặt câu hỏi và theo dõi phần trình diễn trực tiếp trên mô hình 3D!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