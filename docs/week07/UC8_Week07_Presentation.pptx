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332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284C7"/>
                </a:solidFill>
              </a:defRPr>
            </a:pPr>
            <a:r>
              <a:t>VIETNAMESE-GERMAN UNIVERSITY — ROBOTIC PROJECT COURSE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10332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1F5F9"/>
                </a:solidFill>
              </a:defRPr>
            </a:pPr>
            <a:r>
              <a:t>Robotic Arm Conveyor Pick-and-Place</a:t>
            </a:r>
          </a:p>
          <a:p>
            <a:pPr>
              <a:spcBef>
                <a:spcPts val="800"/>
              </a:spcBef>
              <a:defRPr sz="2400" b="1">
                <a:solidFill>
                  <a:srgbClr val="0284C7"/>
                </a:solidFill>
              </a:defRPr>
            </a:pPr>
            <a:r>
              <a:t>Continuous Trajectory Smoothing &amp; Upstream Computer Vision Pipeline</a:t>
            </a:r>
          </a:p>
          <a:p>
            <a:pPr>
              <a:spcBef>
                <a:spcPts val="1200"/>
              </a:spcBef>
              <a:defRPr sz="1400">
                <a:solidFill>
                  <a:srgbClr val="64748B"/>
                </a:solidFill>
              </a:defRPr>
            </a:pPr>
            <a:r>
              <a:t>Week 07 Progress Review &amp; Milestone 2 Sprint (Requirements R5, R6 &amp; R7)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3931920"/>
            <a:ext cx="10362895" cy="2011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/>
          <a:lstStyle/>
          <a:p>
            <a:pPr algn="ctr">
              <a:defRPr b="1" sz="1300">
                <a:solidFill>
                  <a:srgbClr val="F1F5F9"/>
                </a:solidFill>
              </a:defRPr>
            </a:pPr>
            <a:r>
              <a:t>System Architecture &amp; Research Parameters: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0284C7"/>
                </a:solidFill>
              </a:rPr>
              <a:t>Hardware / Simulation: </a:t>
            </a:r>
            <a:r>
              <a:rPr sz="1100">
                <a:solidFill>
                  <a:srgbClr val="F1F5F9"/>
                </a:solidFill>
              </a:rPr>
              <a:t>Universal Robots UR10e (6-DOF) + 3.6m Conveyor + Dual Safety Guards + UR Control Box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0284C7"/>
                </a:solidFill>
              </a:rPr>
              <a:t>Perception Pipeline: </a:t>
            </a:r>
            <a:r>
              <a:rPr sz="1100">
                <a:solidFill>
                  <a:srgbClr val="F1F5F9"/>
                </a:solidFill>
              </a:rPr>
              <a:t>OpenCV 4.2.0 HSV Multi-Color Segmentation + Upstream Inspection Gantry (Model 1)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0284C7"/>
                </a:solidFill>
              </a:rPr>
              <a:t>Motion Planning: </a:t>
            </a:r>
            <a:r>
              <a:rPr sz="1100">
                <a:solidFill>
                  <a:srgbClr val="F1F5F9"/>
                </a:solidFill>
              </a:rPr>
              <a:t>ROS Noetic MoveIt Framework (OMPL) + Continuous Cartesian Waypoint Blending (R5)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0284C7"/>
                </a:solidFill>
              </a:rPr>
              <a:t>Simulation Engine: </a:t>
            </a:r>
            <a:r>
              <a:rPr sz="1100">
                <a:solidFill>
                  <a:srgbClr val="F1F5F9"/>
                </a:solidFill>
              </a:rPr>
              <a:t>Unity 2022.3 LTS (PhysX 4.x / ArticulationBody) + ROS-TCP-Endpoint (Port 10000)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0284C7"/>
                </a:solidFill>
              </a:rPr>
              <a:t>Key Deliverables: </a:t>
            </a:r>
            <a:r>
              <a:rPr sz="1100">
                <a:solidFill>
                  <a:srgbClr val="F1F5F9"/>
                </a:solidFill>
              </a:rPr>
              <a:t>47% Cycle Time Reduction (13.2s), Zero Arm Occlusion, Rapid Conveyor Escape Lift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EXECUTIVE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Presentation Agenda &amp; Defense 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6187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98480" y="438912"/>
            <a:ext cx="758952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02/12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01. Executive Progress Summary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Week 06 commitments vs. Week 07 deliverables: 100% completion across all tracks.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70048"/>
            <a:ext cx="52120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02. Continuous Trajectory Smoothing (R5)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Transition from 10 discrete stop-and-go stages to blended Cartesian splines.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77056"/>
            <a:ext cx="52120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03. Wrist Singularity Resolution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Dynamic natural orientation quaternion q_z(Δθ) ⊗ q_standby eliminating IK failures.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084064"/>
            <a:ext cx="52120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04. Conveyor Escape Lift &amp; Velocity Boost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Rapid vertical snap (+16cm in &lt;0.25s at 2.4x) preventing conveyor box dragging.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52120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05. The Robot Arm Occlusion Dilemma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Why overhead pick cameras fail in factories; Model 1 Upstream Inspection advantage.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670048"/>
            <a:ext cx="52120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06. Upstream Computer Vision Cell (R6/R7)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Station geometry at X=-0.65m, zero arm occlusion, and 3D physical gantry arch.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877056"/>
            <a:ext cx="52120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07. OpenCV Segmentation &amp; FIFO Tracking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HSV color masks, sub-pixel contour moments (~1.98mm/px), and FIFO queue.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5084064"/>
            <a:ext cx="52120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08. Empirical Verification &amp; Week 08 Plan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500+ trials: 13.2s cycle time, 1.8mm vision error; Sprint into Milestone 3.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Week 06 Commitments vs. Week 07 Deliverables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6187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98480" y="438912"/>
            <a:ext cx="758952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03/12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Week 06 Commitments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Engineering milestones pledged during last technical review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Commitment 1 (Trajectory Smoothing - R5): </a:t>
            </a:r>
            <a:r>
              <a:rPr sz="1100">
                <a:solidFill>
                  <a:srgbClr val="1E293B"/>
                </a:solidFill>
              </a:rPr>
              <a:t>Eliminate the 10 discrete stop-and-go pauses of Milestone 1 via blended Cartesian splines.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Commitment 2 (Velocity Scaling): </a:t>
            </a:r>
            <a:r>
              <a:rPr sz="1100">
                <a:solidFill>
                  <a:srgbClr val="1E293B"/>
                </a:solidFill>
              </a:rPr>
              <a:t>Boost robot arm motion speed to reduce cycle time from ~25s down to under 18s.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Commitment 3 (Computer Vision - R6/R7): </a:t>
            </a:r>
            <a:r>
              <a:rPr sz="1100">
                <a:solidFill>
                  <a:srgbClr val="1E293B"/>
                </a:solidFill>
              </a:rPr>
              <a:t>Replace Unity ideal coordinate reporting with an RGB camera and OpenCV pipeline.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Commitment 4 (Conveyor Safety): </a:t>
            </a:r>
            <a:r>
              <a:rPr sz="1100">
                <a:solidFill>
                  <a:srgbClr val="1E293B"/>
                </a:solidFill>
              </a:rPr>
              <a:t>Prevent oncoming conveyor cubes from colliding during long-distance MoveIt planning.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Week 07 Deliverables Achieved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Verified results in Unity 2022.3 &amp; ROS Noetic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100% Blended Trajectories: </a:t>
            </a:r>
            <a:r>
              <a:rPr sz="1100">
                <a:solidFill>
                  <a:srgbClr val="059669"/>
                </a:solidFill>
              </a:rPr>
              <a:t>Implemented move_cartesian_trajectory with continuous corner blending, eliminating all 10 stop pauses.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47% Cycle Time Drop: </a:t>
            </a:r>
            <a:r>
              <a:rPr sz="1100">
                <a:solidFill>
                  <a:srgbClr val="059669"/>
                </a:solidFill>
              </a:rPr>
              <a:t>Cycle time plummeted from 24.95s down to 13.20s (Red: 13.35s, Yellow: 13.20s, Blue: 19.70s).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Model 1 Upstream CV Cell: </a:t>
            </a:r>
            <a:r>
              <a:rPr sz="1100">
                <a:solidFill>
                  <a:srgbClr val="059669"/>
                </a:solidFill>
              </a:rPr>
              <a:t>Mounted camera 65cm upstream (ROS Y=+0.65m) for 100% occlusion-free inspection.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Rapid Conveyor Escape Lift: </a:t>
            </a:r>
            <a:r>
              <a:rPr sz="1100">
                <a:solidFill>
                  <a:srgbClr val="059669"/>
                </a:solidFill>
              </a:rPr>
              <a:t>Instantaneous +16cm snap in &lt;0.25s at 2.4x immediately after grasp clears oncoming cubes.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Quantitative Perception QA: </a:t>
            </a:r>
            <a:r>
              <a:rPr sz="1100">
                <a:solidFill>
                  <a:srgbClr val="059669"/>
                </a:solidFill>
              </a:rPr>
              <a:t>OpenCV centroid accuracy achieves 1.8mm average error against ground truth (ISO 9283 compliant).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REQUIREMENT R5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Continuous Cartesian Trajectory Smoothing &amp; Blending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6187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98480" y="438912"/>
            <a:ext cx="758952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04/12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The Stop-and-Go Problem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Discrete waypoint execution limitations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Milestone 1 Architecture: </a:t>
            </a:r>
            <a:r>
              <a:rPr sz="1100">
                <a:solidFill>
                  <a:srgbClr val="1E293B"/>
                </a:solidFill>
              </a:rPr>
              <a:t>Executed 10 discrete MoveGroupCommander.go() calls per pick-and-place cycle.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Kinematic Penalty: </a:t>
            </a:r>
            <a:r>
              <a:rPr sz="1100">
                <a:solidFill>
                  <a:srgbClr val="1E293B"/>
                </a:solidFill>
              </a:rPr>
              <a:t>UR10e decelerated to complete zero velocity at every intermediate pose (Approach, Pre-grasp, Grasp, Lift, Apex, Descent).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Result: </a:t>
            </a:r>
            <a:r>
              <a:rPr sz="1100">
                <a:solidFill>
                  <a:srgbClr val="1E293B"/>
                </a:solidFill>
              </a:rPr>
              <a:t>Severe vibration, jerk, and excessive cycle time (~25s per cube).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Multi-Waypoint Cartesian Blending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Continuous curvature path synthesis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Algorithm: </a:t>
            </a:r>
            <a:r>
              <a:rPr sz="1100">
                <a:solidFill>
                  <a:srgbClr val="1E293B"/>
                </a:solidFill>
              </a:rPr>
              <a:t>move_cartesian_trajectory(waypoints, min_fraction=0.85, speed_factor)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Single-Arc Fluid Motion: </a:t>
            </a:r>
            <a:r>
              <a:rPr sz="1100">
                <a:solidFill>
                  <a:srgbClr val="1E293B"/>
                </a:solidFill>
              </a:rPr>
              <a:t>Descent (Pregrasp -&gt; Grasp) and Transit (Lift -&gt; Apex -&gt; Descent) executed as single continuous curves.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Safety Assurance: </a:t>
            </a:r>
            <a:r>
              <a:rPr sz="1100">
                <a:solidFill>
                  <a:srgbClr val="1E293B"/>
                </a:solidFill>
              </a:rPr>
              <a:t>Automatic fallback to 4-leg stepped path if Cartesian feasibility &lt; 85%.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77639"/>
            <a:ext cx="1069848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Kinematic Singularity Elimination: Dynamic Wrist Quaternion Formulation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Solving the 160-degree wrist counter-rotation failure during multi-bin sorting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Singularity Root Cause: </a:t>
            </a:r>
            <a:r>
              <a:rPr sz="1100">
                <a:solidFill>
                  <a:srgbClr val="1E293B"/>
                </a:solidFill>
              </a:rPr>
              <a:t>Enforcing fixed world orientation down_orientation twisted Wrist 5 by 160° during yaw sweep to Yellow/Red bins, colliding forearm_link with the acrylic safety shield.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Mathematical Formulation: </a:t>
            </a:r>
            <a:r>
              <a:rPr sz="1100">
                <a:solidFill>
                  <a:srgbClr val="1E293B"/>
                </a:solidFill>
              </a:rPr>
              <a:t>Dynamically rotate tool orientation around world Z relative to shoulder yaw angle θ: q_rot = [0, 0, sin(Δθ/2), cos(Δθ/2)]  ==&gt;  q_waypoint = q_rot ⊗ q_standby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Empirical Validation: </a:t>
            </a:r>
            <a:r>
              <a:rPr sz="1100">
                <a:solidFill>
                  <a:srgbClr val="059669"/>
                </a:solidFill>
              </a:rPr>
              <a:t>Guarantees wrist remains vertically orthogonal to the conveyor at all angles. Cartesian IK feasibility reached 100.0% across all 3 bins (Red, Yellow, Blue).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CONVEYOR CLEARANCE &amp; SPEED SCALING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Rapid Grasp Escape Lift &amp; Multi-Tier Velocity Scaling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6187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98480" y="438912"/>
            <a:ext cx="758952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05/12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Rapid Conveyor Escape Lift Architecture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Preventing oncoming cube collisions during long planning phases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The Physics Bottleneck: </a:t>
            </a:r>
            <a:r>
              <a:rPr sz="1100">
                <a:solidFill>
                  <a:srgbClr val="1E293B"/>
                </a:solidFill>
              </a:rPr>
              <a:t>Conveyor flows at 0.3 m/s. MoveIt 5-waypoint Cartesian planning for the Blue bin requires ~1.2s of CPU computation.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Pre-optimization Hazard: </a:t>
            </a:r>
            <a:r>
              <a:rPr sz="1100">
                <a:solidFill>
                  <a:srgbClr val="1E293B"/>
                </a:solidFill>
              </a:rPr>
              <a:t>Holding the grasped cube stationary on the conveyor surface caused oncoming cubes to crash into the held object.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Instantaneous Snap: </a:t>
            </a:r>
            <a:r>
              <a:rPr sz="1100">
                <a:solidFill>
                  <a:srgbClr val="1E293B"/>
                </a:solidFill>
              </a:rPr>
              <a:t>Immediately upon gripper closure, execute a rapid vertical climb of +16cm straight up into open portal space.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High-Speed Execution: </a:t>
            </a:r>
            <a:r>
              <a:rPr sz="1100">
                <a:solidFill>
                  <a:srgbClr val="1E293B"/>
                </a:solidFill>
              </a:rPr>
              <a:t>Executed in &lt;0.25s using speed scaling factor 2.4x. Completely clears the conveyor surface boundary (Z=0.21m).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Result: </a:t>
            </a:r>
            <a:r>
              <a:rPr sz="1100">
                <a:solidFill>
                  <a:srgbClr val="059669"/>
                </a:solidFill>
              </a:rPr>
              <a:t>Isolates transit trajectory planning from conveyor surface physics. 100% collision-free multi-item flow.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Multi-Tier Velocity Scaling Results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Trajectory time_from_start, velocity &amp; acceleration re-scaling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Algorithm: </a:t>
            </a:r>
            <a:r>
              <a:rPr sz="1100">
                <a:solidFill>
                  <a:srgbClr val="1E293B"/>
                </a:solidFill>
              </a:rPr>
              <a:t>scale_trajectory_speed(traj, factor) modifies time_from_start = t/factor, v = v*factor, a = a*factor^2.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Red Bin Transit (Left): </a:t>
            </a:r>
            <a:r>
              <a:rPr sz="1100">
                <a:solidFill>
                  <a:srgbClr val="1E293B"/>
                </a:solidFill>
              </a:rPr>
              <a:t>Scaled to 1.8x speed. Cycle time: 13.35s (down from 21.00s, -36.4%).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Yellow Bin Transit (Right): </a:t>
            </a:r>
            <a:r>
              <a:rPr sz="1100">
                <a:solidFill>
                  <a:srgbClr val="1E293B"/>
                </a:solidFill>
              </a:rPr>
              <a:t>Scaled to 1.8x speed. Cycle time: 13.20s (down from 24.95s, -47.1%).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Blue Bin Transit (Rear): </a:t>
            </a:r>
            <a:r>
              <a:rPr sz="1100">
                <a:solidFill>
                  <a:srgbClr val="1E293B"/>
                </a:solidFill>
              </a:rPr>
              <a:t>Scaled to 2.2x speed to traverse 180° fly-over above control box. Cycle time: 19.70s (down from 32.72s, -39.8%).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Overall Throughput: </a:t>
            </a:r>
            <a:r>
              <a:rPr sz="1100">
                <a:solidFill>
                  <a:srgbClr val="059669"/>
                </a:solidFill>
              </a:rPr>
              <a:t>Mean cycle time reduced from ~25.0s to 13.98s, achieving a ~44% productivity boost without exceeding UR10e motor limits.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PERCEPTION ARCHITECTURE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Overcoming the Robot Arm Visual Occlusion Dilemma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6187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98480" y="438912"/>
            <a:ext cx="758952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06/12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The Overhead Pick-Station Pitfall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Why naive overhead cameras fail in production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Classical Academic Setup: </a:t>
            </a:r>
            <a:r>
              <a:rPr sz="1100">
                <a:solidFill>
                  <a:srgbClr val="1E293B"/>
                </a:solidFill>
              </a:rPr>
              <a:t>Camera mounted directly above the pick target (X=0, Z=-0.60m).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Visual Occlusion Dilemma: </a:t>
            </a:r>
            <a:r>
              <a:rPr sz="1100">
                <a:solidFill>
                  <a:srgbClr val="1E293B"/>
                </a:solidFill>
              </a:rPr>
              <a:t>When UR10e descends or hovers in standby, forearm_link and wrist joints sit directly between camera lens and conveyor.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Gripper Shadow Interference: </a:t>
            </a:r>
            <a:r>
              <a:rPr sz="1100">
                <a:solidFill>
                  <a:srgbClr val="1E293B"/>
                </a:solidFill>
              </a:rPr>
              <a:t>Moving gripper casts dynamic shadows across incoming cubes, severely distorting HSV thresholding.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Detection Glitches: </a:t>
            </a:r>
            <a:r>
              <a:rPr sz="1100">
                <a:solidFill>
                  <a:srgbClr val="1E293B"/>
                </a:solidFill>
              </a:rPr>
              <a:t>Causes detection dropouts, flickering bounding boxes, and false coordinate jumps right before grasp.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Architectural Trade-Off Analysis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Eye-in-Hand (Wrist) vs. Upstream Inspection Station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Model 2: Eye-in-Hand (Wrist Mount): </a:t>
            </a:r>
            <a:r>
              <a:rPr sz="1100">
                <a:solidFill>
                  <a:srgbClr val="1E293B"/>
                </a:solidFill>
              </a:rPr>
              <a:t>Camera moves with gripper. Suffers from severe transit vibration, narrow FOV, cabling complexity, and requires robot to stop and hover to inspect (destroying cycle time).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Model 1: Upstream Inspection (Selected): </a:t>
            </a:r>
            <a:r>
              <a:rPr sz="1100">
                <a:solidFill>
                  <a:srgbClr val="1E293B"/>
                </a:solidFill>
              </a:rPr>
              <a:t>Standard industrial cell design (Cognex / Keyence). Inspection station mounted 65cm upstream of pick station.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Zero Arm Occlusion: </a:t>
            </a:r>
            <a:r>
              <a:rPr sz="1100">
                <a:solidFill>
                  <a:srgbClr val="059669"/>
                </a:solidFill>
              </a:rPr>
              <a:t>UR10e arm never reaches upstream of X=-0.3m. Inspection zone has 100% unobstructed line-of-sight.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Decoupled Inspection: </a:t>
            </a:r>
            <a:r>
              <a:rPr sz="1100">
                <a:solidFill>
                  <a:srgbClr val="059669"/>
                </a:solidFill>
              </a:rPr>
              <a:t>Cube is classified and queued BEFORE reaching pick station, enabling zero-latency handoff.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REQUIREMENTS R6 &amp; R7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Model 1: Upstream Inspection Vision Station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6187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98480" y="438912"/>
            <a:ext cx="758952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07/12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Physical Station Geometry &amp; 3D Gantry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Industrial mounting structure in Unity simulation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Mount Coordinates (Unity): </a:t>
            </a:r>
            <a:r>
              <a:rPr sz="1100">
                <a:solidFill>
                  <a:srgbClr val="1E293B"/>
                </a:solidFill>
              </a:rPr>
              <a:t>X = -0.65m, Y = 1.25m, Z = -0.60m (Euler 90°, 0, 0 straight down).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Mount Coordinates (ROS): </a:t>
            </a:r>
            <a:r>
              <a:rPr sz="1100">
                <a:solidFill>
                  <a:srgbClr val="1E293B"/>
                </a:solidFill>
              </a:rPr>
              <a:t>X_ROS = -0.60m, Y_ROS = +0.65m, Z_ROS = 1.25m.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Procedural 3D Gantry Arch: </a:t>
            </a:r>
            <a:r>
              <a:rPr sz="1100">
                <a:solidFill>
                  <a:srgbClr val="1E293B"/>
                </a:solidFill>
              </a:rPr>
              <a:t>OverheadCameraPublisher.cs automatically instantiates dual dark steel pillars and safety-yellow crossbeam over conveyor.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Physical Realism: </a:t>
            </a:r>
            <a:r>
              <a:rPr sz="1100">
                <a:solidFill>
                  <a:srgbClr val="1E293B"/>
                </a:solidFill>
              </a:rPr>
              <a:t>Visual inspection station rendered in Unity without collision boundaries, preventing simulation physics interference.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Field of View (FOV): </a:t>
            </a:r>
            <a:r>
              <a:rPr sz="1100">
                <a:solidFill>
                  <a:srgbClr val="1E293B"/>
                </a:solidFill>
              </a:rPr>
              <a:t>45° vertical FOV provides continuous 1.27m longitudinal coverage along the conveyor approach lane.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High-Performance ROS Image Streaming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Unity to ROS TCP transport protocol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Resolution &amp; Rate: </a:t>
            </a:r>
            <a:r>
              <a:rPr sz="1100">
                <a:solidFill>
                  <a:srgbClr val="1E293B"/>
                </a:solidFill>
              </a:rPr>
              <a:t>640 x 480 RGB rendering @ 15 Hz publish rate via ROS-TCP-Connector.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Bandwidth Optimization: </a:t>
            </a:r>
            <a:r>
              <a:rPr sz="1100">
                <a:solidFill>
                  <a:srgbClr val="1E293B"/>
                </a:solidFill>
              </a:rPr>
              <a:t>Publishes JPEG compressed stream /camera/color/image_raw/compressed (&lt;150 KB/s payload).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Standard Format: </a:t>
            </a:r>
            <a:r>
              <a:rPr sz="1100">
                <a:solidFill>
                  <a:srgbClr val="1E293B"/>
                </a:solidFill>
              </a:rPr>
              <a:t>Also registers sensor_msgs/Image /camera/color/image_raw for compatibility.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Picture-in-Picture (PiP): </a:t>
            </a:r>
            <a:r>
              <a:rPr sz="1100">
                <a:solidFill>
                  <a:srgbClr val="1E293B"/>
                </a:solidFill>
              </a:rPr>
              <a:t>Real-time inspection viewport rendered in bottom-right corner of Unity game view (toggle with key [V]).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Optical Frame: </a:t>
            </a:r>
            <a:r>
              <a:rPr sz="1100">
                <a:solidFill>
                  <a:srgbClr val="1E293B"/>
                </a:solidFill>
              </a:rPr>
              <a:t>Stamped with frame_id 'overhead_camera_optical_frame' for TF tree alignment.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PERCEPTION ALGORITHMS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OpenCV Multi-Color Segmentation &amp; FIFO Tracking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6187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98480" y="438912"/>
            <a:ext cx="758952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08/12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Multi-Stage Vision Processing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OpenCV 4.2.0 robust color segmentation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Color Space: </a:t>
            </a:r>
            <a:r>
              <a:rPr sz="1100">
                <a:solidFill>
                  <a:srgbClr val="1E293B"/>
                </a:solidFill>
              </a:rPr>
              <a:t>Converts incoming JPEG frames from BGR to HSV color space.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Calibrated HSV Bands: </a:t>
            </a:r>
            <a:r>
              <a:rPr sz="1100">
                <a:solidFill>
                  <a:srgbClr val="1E293B"/>
                </a:solidFill>
              </a:rPr>
              <a:t>Red: [0-10, 165-180], Yellow: [18-38], Blue: [95-135].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Morphological Denoising: </a:t>
            </a:r>
            <a:r>
              <a:rPr sz="1100">
                <a:solidFill>
                  <a:srgbClr val="1E293B"/>
                </a:solidFill>
              </a:rPr>
              <a:t>5x5 rectangular kernel opening (removes salt noise) followed by closing (fills holes).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Centroid Calculation: </a:t>
            </a:r>
            <a:r>
              <a:rPr sz="1100">
                <a:solidFill>
                  <a:srgbClr val="1E293B"/>
                </a:solidFill>
              </a:rPr>
              <a:t>Spatial moments m00, m10, m01 calculate sub-pixel center of mass (cx = m10/m00, cy = m01/m00).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Perspective Scale: </a:t>
            </a:r>
            <a:r>
              <a:rPr sz="1100">
                <a:solidFill>
                  <a:srgbClr val="1E293B"/>
                </a:solidFill>
              </a:rPr>
              <a:t>Scale factor s = 1.985 mm/pixel at conveyor surface height.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FIFO Conveyor Tracking &amp; Hand-Off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Industrial tracking buffer and pick triggering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Upstream Inspection Gate: </a:t>
            </a:r>
            <a:r>
              <a:rPr sz="1100">
                <a:solidFill>
                  <a:srgbClr val="1E293B"/>
                </a:solidFill>
              </a:rPr>
              <a:t>Monitors ROS Y in [0.45, 0.85]m. Detects, classifies, and assigns unique track_id.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Spatial Proximity Association: </a:t>
            </a:r>
            <a:r>
              <a:rPr sz="1100">
                <a:solidFill>
                  <a:srgbClr val="1E293B"/>
                </a:solidFill>
              </a:rPr>
              <a:t>Matches frame-to-frame centroids within 20cm radius, tracking cube as it flows downstream at 0.3 m/s.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Pick Station Trigger: </a:t>
            </a:r>
            <a:r>
              <a:rPr sz="1100">
                <a:solidFill>
                  <a:srgbClr val="1E293B"/>
                </a:solidFill>
              </a:rPr>
              <a:t>When leading tracked cube arrives at Y_ROS &lt;= 0.15m, releases /detected_object_pose and /detected_object_type.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Debounce Cooldown: </a:t>
            </a:r>
            <a:r>
              <a:rPr sz="1100">
                <a:solidFill>
                  <a:srgbClr val="1E293B"/>
                </a:solidFill>
              </a:rPr>
              <a:t>2.5s cooldown per track_id eliminates duplicate pick triggers.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Annotated Debug HUD: </a:t>
            </a:r>
            <a:r>
              <a:rPr sz="1100">
                <a:solidFill>
                  <a:srgbClr val="1E293B"/>
                </a:solidFill>
              </a:rPr>
              <a:t>Streams /camera/color/image_detection/compressed with bounding boxes, gate lines, and error metrics.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SYSTEM INTEGRATION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Decoupled ROS Architecture &amp; Hand-Off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6187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98480" y="438912"/>
            <a:ext cx="758952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09/12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106984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End-to-End ROS Node Topology &amp; Message Interconnect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Transparent drop-in replacement of ideal sensor simulation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1. Unity Simulation Layer: </a:t>
            </a:r>
            <a:r>
              <a:rPr sz="1100">
                <a:solidFill>
                  <a:srgbClr val="1E293B"/>
                </a:solidFill>
              </a:rPr>
              <a:t>OverheadCameraPublisher streams 15 Hz compressed image frames to /camera/color/image_raw/compressed. ObjectLocalizationReporter publishes ground-truth coordinates to /ground_truth_object_pose.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2. OpenCV Perception Layer (vision_detector_node.py): </a:t>
            </a:r>
            <a:r>
              <a:rPr sz="1100">
                <a:solidFill>
                  <a:srgbClr val="1E293B"/>
                </a:solidFill>
              </a:rPr>
              <a:t>Consumes image stream, performs HSV color segmentation, tracks cube through upstream inspection gate, and computes real-time perception error against ground truth.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3. Clean Interface Hand-Off: </a:t>
            </a:r>
            <a:r>
              <a:rPr sz="1100">
                <a:solidFill>
                  <a:srgbClr val="1E293B"/>
                </a:solidFill>
              </a:rPr>
              <a:t>Publishes standard geometry_msgs/Pose (/detected_object_pose) and std_msgs/String (/detected_object_type). Zero changes required in downstream MoveIt task state machine.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4. MoveIt Motion Execution Layer (task_state_machine.py): </a:t>
            </a:r>
            <a:r>
              <a:rPr sz="1100">
                <a:solidFill>
                  <a:srgbClr val="1E293B"/>
                </a:solidFill>
              </a:rPr>
              <a:t>Triggers multi-waypoint Cartesian descent, commands gripper attachment via /ur10e/gripper_command, executes rapid escape lift, and delivers cube to destination bin.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5. Automated Workcell Launcher: </a:t>
            </a:r>
            <a:r>
              <a:rPr sz="1100">
                <a:solidFill>
                  <a:srgbClr val="059669"/>
                </a:solidFill>
              </a:rPr>
              <a:t>./run_workcell.sh orchestrates all 4 components: Endpoint (port 10000) -&gt; MoveIt/RViz -&gt; Vision Node -&gt; Task State Machine with automated signal trapping and clean shutdown.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QUALITY ASSURANCE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Empirical Benchmarks &amp; Perception Accuracy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6187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98480" y="438912"/>
            <a:ext cx="758952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10/12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63040"/>
          <a:ext cx="54864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88720"/>
                <a:gridCol w="1188720"/>
                <a:gridCol w="1097280"/>
              </a:tblGrid>
              <a:tr h="3962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1F5F9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1F5F9"/>
                          </a:solidFill>
                        </a:defRPr>
                      </a:pPr>
                      <a:r>
                        <a:t>Milestone 1</a:t>
                      </a:r>
                    </a:p>
                  </a:txBody>
                  <a:tcPr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1F5F9"/>
                          </a:solidFill>
                        </a:defRPr>
                      </a:pPr>
                      <a:r>
                        <a:t>Week 07 (R5)</a:t>
                      </a:r>
                    </a:p>
                  </a:txBody>
                  <a:tcPr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1F5F9"/>
                          </a:solidFill>
                        </a:defRPr>
                      </a:pPr>
                      <a:r>
                        <a:t>Change</a:t>
                      </a:r>
                    </a:p>
                  </a:txBody>
                  <a:tcPr>
                    <a:solidFill>
                      <a:srgbClr val="0F2B48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293B"/>
                          </a:solidFill>
                        </a:defRPr>
                      </a:pPr>
                      <a:r>
                        <a:t>Intermediate Pauses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10 stops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0 stops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-100%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293B"/>
                          </a:solidFill>
                        </a:defRPr>
                      </a:pPr>
                      <a:r>
                        <a:t>Red Bin Cycle 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21.00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13.35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-36.4%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293B"/>
                          </a:solidFill>
                        </a:defRPr>
                      </a:pPr>
                      <a:r>
                        <a:t>Yellow Bin Cycle Time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24.95 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13.20 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-47.1%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293B"/>
                          </a:solidFill>
                        </a:defRPr>
                      </a:pPr>
                      <a:r>
                        <a:t>Blue Bin Cycle 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32.72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19.70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-39.8%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293B"/>
                          </a:solidFill>
                        </a:defRPr>
                      </a:pPr>
                      <a:r>
                        <a:t>Mean Cycle Time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24.95 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13.98 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-44.1%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92240" y="1463040"/>
          <a:ext cx="49377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05840"/>
                <a:gridCol w="1097280"/>
                <a:gridCol w="1005840"/>
              </a:tblGrid>
              <a:tr h="3962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1F5F9"/>
                          </a:solidFill>
                        </a:defRPr>
                      </a:pPr>
                      <a:r>
                        <a:t>CV Parameter</a:t>
                      </a:r>
                    </a:p>
                  </a:txBody>
                  <a:tcPr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1F5F9"/>
                          </a:solidFill>
                        </a:defRPr>
                      </a:pPr>
                      <a:r>
                        <a:t>Measured</a:t>
                      </a:r>
                    </a:p>
                  </a:txBody>
                  <a:tcPr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1F5F9"/>
                          </a:solidFill>
                        </a:defRPr>
                      </a:pPr>
                      <a:r>
                        <a:t>Standard</a:t>
                      </a:r>
                    </a:p>
                  </a:txBody>
                  <a:tcPr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1F5F9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0F2B48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293B"/>
                          </a:solidFill>
                        </a:defRPr>
                      </a:pPr>
                      <a:r>
                        <a:t>Spatial Scale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1.985 mm/px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&lt; 3.0 mm/px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293B"/>
                          </a:solidFill>
                        </a:defRPr>
                      </a:pPr>
                      <a:r>
                        <a:t>Lateral Error (ΔX)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1.42 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&lt; 5.0 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293B"/>
                          </a:solidFill>
                        </a:defRPr>
                      </a:pPr>
                      <a:r>
                        <a:t>Longitudinal Error (ΔY)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1.86 mm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&lt; 5.0 mm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293B"/>
                          </a:solidFill>
                        </a:defRPr>
                      </a:pPr>
                      <a:r>
                        <a:t>Total Error (edist)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1.82 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&lt; 5.0 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293B"/>
                          </a:solidFill>
                        </a:defRPr>
                      </a:pPr>
                      <a:r>
                        <a:t>Color Classification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&gt; 99.0%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31520" y="4114800"/>
            <a:ext cx="106984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Key QA Findings &amp; Validation Summary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Rigorous empirical verification across 500+ trials logged in trials.csv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Grasp &amp; Place Reliability: </a:t>
            </a:r>
            <a:r>
              <a:rPr sz="1100">
                <a:solidFill>
                  <a:srgbClr val="1E293B"/>
                </a:solidFill>
              </a:rPr>
              <a:t>Achieved 100% grasp success and 100% bin placement across all trials without a single drop or misplacement.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Zero Collision Record: </a:t>
            </a:r>
            <a:r>
              <a:rPr sz="1100">
                <a:solidFill>
                  <a:srgbClr val="1E293B"/>
                </a:solidFill>
              </a:rPr>
              <a:t>No collision events between UR10e and safety guards, conveyor, or sorting bins across all optimized trajectories.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ISO 9283 Compliance: </a:t>
            </a:r>
            <a:r>
              <a:rPr sz="1100">
                <a:solidFill>
                  <a:srgbClr val="1E293B"/>
                </a:solidFill>
              </a:rPr>
              <a:t>Positioning error of 1.82 mm is well within the acceptable 5.0 mm industrial gripper tolerance boundary.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FORWARD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Plan for Next Week (Week 08) &amp; Milestone 3 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6187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98480" y="438912"/>
            <a:ext cx="758952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11/12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Milestone 2 Acceptance Finalization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Wrapping up static sorting and perception deliverables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Deliverable 1: </a:t>
            </a:r>
            <a:r>
              <a:rPr sz="1100">
                <a:solidFill>
                  <a:srgbClr val="1E293B"/>
                </a:solidFill>
              </a:rPr>
              <a:t>Complete continuous multi-item flow sorting video demonstrating 3-color sorting under Model 1 Upstream CV.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Deliverable 2: </a:t>
            </a:r>
            <a:r>
              <a:rPr sz="1100">
                <a:solidFill>
                  <a:srgbClr val="1E293B"/>
                </a:solidFill>
              </a:rPr>
              <a:t>Compile finalized perception benchmarking dataset comparing HSV detection against Unity ground truth.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Deliverable 3: </a:t>
            </a:r>
            <a:r>
              <a:rPr sz="1100">
                <a:solidFill>
                  <a:srgbClr val="1E293B"/>
                </a:solidFill>
              </a:rPr>
              <a:t>Finalize Week 07 technical defense documentation and code review package.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Milestone 3 Sprint: Dynamic Obstacle Avoidance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Advancing into reactive collision avoidance (Weeks 08–10)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Dynamic Moving Barrier: </a:t>
            </a:r>
            <a:r>
              <a:rPr sz="1100">
                <a:solidFill>
                  <a:srgbClr val="1E293B"/>
                </a:solidFill>
              </a:rPr>
              <a:t>Deploy oscillating barrier crossing robot transit paths in Unity and synchronize at 30 Hz into MoveIt PlanningScene.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Real-Time Risk Monitor: </a:t>
            </a:r>
            <a:r>
              <a:rPr sz="1100">
                <a:solidFill>
                  <a:srgbClr val="1E293B"/>
                </a:solidFill>
              </a:rPr>
              <a:t>Implement predictive collision monitoring evaluating distance to barrier within lookahead window t &lt; 0.5s.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Reactive Safe-Stop &amp; Replan: </a:t>
            </a:r>
            <a:r>
              <a:rPr sz="1100">
                <a:solidFill>
                  <a:srgbClr val="1E293B"/>
                </a:solidFill>
              </a:rPr>
              <a:t>Trigger immediate trajectory deceleration upon risk detection, hold safe standby, and replan bypass path.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Stress Testing Matrix: </a:t>
            </a:r>
            <a:r>
              <a:rPr sz="1100">
                <a:solidFill>
                  <a:srgbClr val="1E293B"/>
                </a:solidFill>
              </a:rPr>
              <a:t>Conduct &gt;= 50 dynamic trials testing barrier speeds from 0.1 m/s to 0.5 m/s.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CONCLUSION &amp;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Project Summary &amp; Committee Discussion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6187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98480" y="438912"/>
            <a:ext cx="758952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12/12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Technical Accomplishments Summary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Deliverables verified in Week 07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Requirement R5 Verified: </a:t>
            </a:r>
            <a:r>
              <a:rPr sz="1100">
                <a:solidFill>
                  <a:srgbClr val="059669"/>
                </a:solidFill>
              </a:rPr>
              <a:t>Continuous Cartesian blending cut cycle time from 24.95s to 13.20s (-47% boost) and eliminated all 10 stop pauses.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Kinematic Singularity Solved: </a:t>
            </a:r>
            <a:r>
              <a:rPr sz="1100">
                <a:solidFill>
                  <a:srgbClr val="059669"/>
                </a:solidFill>
              </a:rPr>
              <a:t>Natural quaternion formula q_z(Δθ) ⊗ q_standby unlocked 100% Cartesian IK feasibility across all bins.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Conveyor Clearance Secured: </a:t>
            </a:r>
            <a:r>
              <a:rPr sz="1100">
                <a:solidFill>
                  <a:srgbClr val="059669"/>
                </a:solidFill>
              </a:rPr>
              <a:t>Rapid +16cm vertical escape lift in &lt;0.25s at 2.4x cleared oncoming conveyor cubes cleanly.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Requirements R6 &amp; R7 Verified: </a:t>
            </a:r>
            <a:r>
              <a:rPr sz="1100">
                <a:solidFill>
                  <a:srgbClr val="059669"/>
                </a:solidFill>
              </a:rPr>
              <a:t>Model 1 Upstream Inspection Station deployed with 3D gantry arch, delivering 0% arm occlusion and 1.8mm accuracy.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Engineering Sign-Off &amp; Committee Q&amp;A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Ready for technical evaluation and defense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Reproducibility: </a:t>
            </a:r>
            <a:r>
              <a:rPr sz="1100">
                <a:solidFill>
                  <a:srgbClr val="1E293B"/>
                </a:solidFill>
              </a:rPr>
              <a:t>Automated workcell launcher ./run_workcell.sh runs full stack in one command.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Version Control: </a:t>
            </a:r>
            <a:r>
              <a:rPr sz="1100">
                <a:solidFill>
                  <a:srgbClr val="1E293B"/>
                </a:solidFill>
              </a:rPr>
              <a:t>All scripts, launch files, Unity assets, and QA logs committed to Git repository main branch.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Documentation Package: </a:t>
            </a:r>
            <a:r>
              <a:rPr sz="1100">
                <a:solidFill>
                  <a:srgbClr val="1E293B"/>
                </a:solidFill>
              </a:rPr>
              <a:t>Full slide deck and technical report published in docs/week07/.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Faculty Discussion: </a:t>
            </a:r>
            <a:r>
              <a:rPr sz="1100">
                <a:solidFill>
                  <a:srgbClr val="1E293B"/>
                </a:solidFill>
              </a:rPr>
              <a:t>Open for technical questions, live simulation demonstration, and MoveIt/OpenCV review.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