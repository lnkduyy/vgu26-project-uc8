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" name="CustomShape 2"/>
          <p:cNvSpPr/>
          <p:nvPr/>
        </p:nvSpPr>
        <p:spPr>
          <a:xfrm>
            <a:off x="731520" y="1097280"/>
            <a:ext cx="1370880" cy="723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" name="CustomShape 3"/>
          <p:cNvSpPr/>
          <p:nvPr/>
        </p:nvSpPr>
        <p:spPr>
          <a:xfrm>
            <a:off x="731520" y="1371600"/>
            <a:ext cx="3474000" cy="383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600">
            <a:solidFill>
              <a:srgbClr val="0284c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VGU ROBOTIC PROJECT — USE CASE 08 (UC8)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" name="CustomShape 4"/>
          <p:cNvSpPr/>
          <p:nvPr/>
        </p:nvSpPr>
        <p:spPr>
          <a:xfrm>
            <a:off x="731520" y="2011680"/>
            <a:ext cx="10697760" cy="167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3200" spc="-1" strike="noStrike">
                <a:solidFill>
                  <a:srgbClr val="f1f5f9"/>
                </a:solidFill>
                <a:latin typeface="Calibri"/>
                <a:ea typeface="DejaVu Sans"/>
              </a:rPr>
              <a:t>ROBOTIC ARM CONVEYOR PICK-AND-PLACE</a:t>
            </a:r>
            <a:br/>
            <a:r>
              <a:rPr b="1" lang="en-US" sz="3200" spc="-1" strike="noStrike">
                <a:solidFill>
                  <a:srgbClr val="f1f5f9"/>
                </a:solidFill>
                <a:latin typeface="Calibri"/>
                <a:ea typeface="DejaVu Sans"/>
              </a:rPr>
              <a:t>WITH OBSTACLE AVOIDANCE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284c7"/>
                </a:solidFill>
                <a:latin typeface="Calibri"/>
                <a:ea typeface="DejaVu Sans"/>
              </a:rPr>
              <a:t>Week 06 Progress Presentation: Industrial Machine Guarding, Manhattan Orthogonal Motion, &amp; Milestone 2 Roadmap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" name="CustomShape 5"/>
          <p:cNvSpPr/>
          <p:nvPr/>
        </p:nvSpPr>
        <p:spPr>
          <a:xfrm>
            <a:off x="731520" y="4480560"/>
            <a:ext cx="10728000" cy="16452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600">
            <a:solidFill>
              <a:srgbClr val="334155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90000" tIns="274320" bIns="45000" anchor="ctr">
            <a:noAutofit/>
          </a:bodyPr>
          <a:p>
            <a:pPr algn="ctr"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  <a:ea typeface="DejaVu Sans"/>
              </a:rPr>
              <a:t>ACADEMIC &amp; TECHNICAL SPECIFICATIONS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Institution: Vietnamese-German University (VGU) | Workstation: kduy-5560 | Date: October 2026</a:t>
            </a:r>
            <a:br/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Hardware/Simulation: Universal Robots UR10e (6-DOF) + 3.6m Conveyor + 3 Dedicated Sorting Bins</a:t>
            </a:r>
            <a:br/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DejaVu Sans"/>
              </a:rPr>
              <a:t>Software Stack: Unity 2022.3 LTS (PhysX 4.x / ArticulationBody) + ROS Noetic MoveIt Planning Framework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EXECUTIVE ROADMAP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Presentation Agenda &amp; Engineering Overview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02 / 12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48" name="Table 6"/>
          <p:cNvGraphicFramePr/>
          <p:nvPr/>
        </p:nvGraphicFramePr>
        <p:xfrm>
          <a:off x="731520" y="1508760"/>
          <a:ext cx="10728000" cy="4754160"/>
        </p:xfrm>
        <a:graphic>
          <a:graphicData uri="http://schemas.openxmlformats.org/drawingml/2006/table">
            <a:tbl>
              <a:tblPr/>
              <a:tblGrid>
                <a:gridCol w="731520"/>
                <a:gridCol w="3108960"/>
                <a:gridCol w="6887880"/>
              </a:tblGrid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#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Presentation Module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Core Technical Focus &amp; Engineering Scope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01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Executive Progress Summary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Commitments from Week 05 vs. Week 06 Deliverables (100% Milestone Fulfillment)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02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Industrial Machine Guarding (R8)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Dual Acrylic Wings (0.36m), Open Robotic Pick Portal, &amp; UR Control Box (0.42m)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03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Motion Planning Algorithms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MoveIt OMPL (RRTConnect, RRT*, PRM) vs. The Manhattan Hybrid Paradigm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04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Multi-Tier Clearance Profiling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Dynamic clearance altitudes: Flanking Wings (Z=0.52m) vs. Rear Control Station (Z=0.60m)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05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Kinematic &amp; Collision Debugging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Blue Bin Root-Cause Analysis, boundary angle +0.05 rad, &amp; zero-sink parenting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06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Symmetrical Manhattan Return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3-Stage return path: Elevator lift out of bin -&gt; apex sweep -&gt; Standby descent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07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Collision Checking Engine (FCL)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MoveIt FCL Architecture: BVH broadphase culling &amp; GJK/EPA narrowphase distance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08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Standardized Benchmarking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ISO 9283 Robot Evaluation Criteria (RP_l, AP_p, RT_p) &amp; Precision vs. Speed Focus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320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09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Plan for Next Week (Week 07)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Milestone 2 Sprint: RGB-D camera vision, parabolic corner blending, fault recovery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5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Summary &amp; Faculty Q&amp;A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Formal project sign-off, live workcell demonstration, and committee discussion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SPRINT REVIEW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Executive Progress: Commitments vs. Delivered Results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03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4" name="CustomShape 6"/>
          <p:cNvSpPr/>
          <p:nvPr/>
        </p:nvSpPr>
        <p:spPr>
          <a:xfrm>
            <a:off x="731520" y="1508760"/>
            <a:ext cx="521136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Week 05 Commitments Set Out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Targets planned during Milestone 1 defense: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1. Static Obstacle Integration (R8):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Deploy physical machine guarding barriers in Unity and synchronize collision geometries into MoveIt PlanningScene.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2. Constrained Motion Planning: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Navigate safely between conveyor and 3 sorting bins without clipping obstacle edges or table surface.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3. Eliminate Slanted Diagonals: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Address instructor feedback regarding erratic 3D diagonal splines and awkward joint wobbling during transit.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4. Multi-Bin Collision Clearance: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Verify automated sorting into Red, Yellow, and rear Blue bins under strict spatial constraints.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5. Performance Benchmarks: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Log continuous sorting trials to prove robustness under obstacle-constrained environments.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" name="CustomShape 7"/>
          <p:cNvSpPr/>
          <p:nvPr/>
        </p:nvSpPr>
        <p:spPr>
          <a:xfrm>
            <a:off x="6217920" y="1508760"/>
            <a:ext cx="524160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Week 06 Delivered Engineering Results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100% Fulfillment across all target deliverables: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1. Dual Acrylic Shields Installed: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0.36m Polycarbonate wings deployed flanking conveyor with open 0.44m center pick portal. [100% DONE]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2. UR Control Station Added: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0.42m tall industrial operator console blocking low-altitude rear swings towards Blue bin. [100% DONE]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3. Pure Manhattan Trajectory: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Engineered 4-leg orthogonal stepped path: 1-DOF base crane rotation + pure vertical elevator lift. [100% DONE]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4. Symmetrical Return Sequencer: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3-Stage return path directly into Standby pose, eliminating diagonal dips. [100% DONE]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5. Flawless Empirical Record: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Over 500 cumulative logged trials with 100% grasp/place success rate and zero collisions. [100% DONE]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PHYSICAL ENVIRONMENT DESIGN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Requirement R8: Industrial Machine Guarding &amp; Pick Portal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9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04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" name="CustomShape 6"/>
          <p:cNvSpPr/>
          <p:nvPr/>
        </p:nvSpPr>
        <p:spPr>
          <a:xfrm>
            <a:off x="731520" y="1508760"/>
            <a:ext cx="338256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Dual Acrylic Shield Wings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Mica safety barriers (ISO 14120):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Physical Dimensions: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0.08m thick x 0.58m length x 0.36m height, standing firmly on workcell table.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Spatial Coordinates: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Left Wing: X = -0.38m, Y = +0.51m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Right Wing: X = -0.38m, Y = -0.51m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Machine Safety Purpose: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Protects human personnel from conveyor hazards; physically blocks direct horizontal sweeps to Red and Yellow bins.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MoveIt Synchronization: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Added as collision boxes `shield_left` and `shield_right` in PlanningScene.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CustomShape 7"/>
          <p:cNvSpPr/>
          <p:nvPr/>
        </p:nvSpPr>
        <p:spPr>
          <a:xfrm>
            <a:off x="4389120" y="1508760"/>
            <a:ext cx="338256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Open Robotic Pick Portal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Unconstrained ergonomic grasping: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Window Clearance: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0.44m wide unobstructed opening (Y between -0.22m and +0.22m).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Ergonomic Grasping: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Allows 100% vertical descent directly to incoming cubes on conveyor with zero wrist twisting.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Threshold Containment: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Leg 1 horizontal rotation stays inside portal angles (+0.05 to +0.55 rad) before initiating vertical lift.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Industrial Standard: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Emulates automated loading stations with machine guard cutouts in automotive manufacturing.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" name="CustomShape 8"/>
          <p:cNvSpPr/>
          <p:nvPr/>
        </p:nvSpPr>
        <p:spPr>
          <a:xfrm>
            <a:off x="8046720" y="1508760"/>
            <a:ext cx="341280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UR Industrial Control Station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Operator console &amp; pendant: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Physical Dimensions: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0.24m x 0.32m x 0.42m, positioned at table rear-left.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Placement: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X = +0.35m, Y = +0.48m, Z = 0.19m (between Red and Blue bins).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Collision Constraint: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Blocks direct rear swings to Blue bin; requires robot arm to elevate higher to clear console top (Z = 0.40m).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Planning Sync: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Registered in MoveIt as `ur_control_box` with strict proximity clearance.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KINEMATIC ARCHITECTURE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CustomShape 3"/>
          <p:cNvSpPr/>
          <p:nvPr/>
        </p:nvSpPr>
        <p:spPr>
          <a:xfrm>
            <a:off x="731520" y="640080"/>
            <a:ext cx="10057680" cy="66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Motion Planning Algorithms: OMPL vs. The Manhattan Hybrid Paradigm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7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05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9" name="CustomShape 6"/>
          <p:cNvSpPr/>
          <p:nvPr/>
        </p:nvSpPr>
        <p:spPr>
          <a:xfrm>
            <a:off x="731520" y="1371960"/>
            <a:ext cx="10789560" cy="127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MoveIt OMPL Landscape vs. Cartesian Rectilinear Motion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Why pure sampling-based planners produce slanted, wobbly curves in industrial workcells: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OMPL Backend Algorithms: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MoveIt utilizes Open Motion Planning Library (OMPL) in C-space (R^6): RRTConnect (bidirectional fast search), RRT* (asymptotically optimal length), and PRM/PRM* (precomputed roadmap graphs).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The C-space Sampling Dilemma: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Because OMPL explores via random joint-space sampling, the shortest joint path manifests in 3D Cartesian space as erratic, slanted diagonal cuts ('wobbly slanted trajectories') that risk clipping obstacle corners.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CustomShape 7"/>
          <p:cNvSpPr/>
          <p:nvPr/>
        </p:nvSpPr>
        <p:spPr>
          <a:xfrm>
            <a:off x="731520" y="2834640"/>
            <a:ext cx="2498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Leg 1: Pure Horizontal Sweep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Low altitude inside portal (Z=0.21m)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Joint 0 rotates (+0.29 -&gt; theta_thresh)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Joints 1-5 locked rigid (1-DOF SCARA)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Zero elbow twisting or dipping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1" name="CustomShape 8"/>
          <p:cNvSpPr/>
          <p:nvPr/>
        </p:nvSpPr>
        <p:spPr>
          <a:xfrm>
            <a:off x="3474720" y="2834640"/>
            <a:ext cx="2498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Leg 2: Pure Vertical Lift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Cartesian elevator step-up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Elevates straight along Z to apex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Delta X = 0, Delta Y = 0 (Jacobian IK)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Z_apex = 0.52m (Wings) / 0.60m (Box)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2" name="CustomShape 9"/>
          <p:cNvSpPr/>
          <p:nvPr/>
        </p:nvSpPr>
        <p:spPr>
          <a:xfrm>
            <a:off x="6217920" y="2834640"/>
            <a:ext cx="2498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Leg 3: Apex Horizontal Sweep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High-altitude base crane rotation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Joint 0 rotates from threshold to bin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Maintains constant apex altitude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Forearm/elbow clears all obstacles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3" name="CustomShape 10"/>
          <p:cNvSpPr/>
          <p:nvPr/>
        </p:nvSpPr>
        <p:spPr>
          <a:xfrm>
            <a:off x="8961120" y="2834640"/>
            <a:ext cx="2498400" cy="342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Leg 4: Pure Vertical Descent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Cartesian elevator step-down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Descends straight down into bin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Delta X = 0, Delta Y = 0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0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Drops cleanly at Z = 0.25m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ADAPTIVE CLEARANCE STRATEGY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Multi-Tier Obstacle Clearance: Acrylic Wings vs. Control Box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7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06 / 12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79" name="Table 6"/>
          <p:cNvGraphicFramePr/>
          <p:nvPr/>
        </p:nvGraphicFramePr>
        <p:xfrm>
          <a:off x="731520" y="1508760"/>
          <a:ext cx="10728000" cy="20113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645920"/>
                <a:gridCol w="1645920"/>
                <a:gridCol w="1463040"/>
                <a:gridCol w="1401480"/>
              </a:tblGrid>
              <a:tr h="5029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Target Destination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Physical Obstacle Encountered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Obstacle Top Height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Clearance Apex (Z)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Safety Margin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Cycle Time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</a:tr>
              <a:tr h="5029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Red Bin (Robot Left)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Left Acrylic Shield Wing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 = 0.36 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 = 0.52 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+ 16.0 cm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21.2 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Yellow Bin (Robot Right)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Right Acrylic Shield Wing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 = 0.36 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 = 0.52 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+ 16.0 cm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20.4 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Blue Bin (Robot Rear)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UR Industrial Control Station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 = 0.40 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Z = 0.60 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+ 20.0 cm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22.8 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CustomShape 7"/>
          <p:cNvSpPr/>
          <p:nvPr/>
        </p:nvSpPr>
        <p:spPr>
          <a:xfrm>
            <a:off x="731520" y="3749040"/>
            <a:ext cx="5211360" cy="2513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Why Adaptive Multi-Tier Profiling?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Optimizing cycle time without compromising safety: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Avoids Over-Elevation: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Applying Z = 0.60m universally would needlessly add 1.8s to Red and Yellow cycles. Tailoring apex to obstacle geometry preserves throughput.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Rigorous Safety Margins: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Both 16cm and 20cm margins safely accommodate gripper width, payload cube dimensions, and dynamic inertia.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CustomShape 8"/>
          <p:cNvSpPr/>
          <p:nvPr/>
        </p:nvSpPr>
        <p:spPr>
          <a:xfrm>
            <a:off x="6217920" y="3749040"/>
            <a:ext cx="5241600" cy="2513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Cartesian Linear Interpolation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Zero lateral drift precision: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compute_cartesian_path():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Executed with eef_step = 0.01m and avoid_collisions = True. Verified strictly vertical elevator paths (Delta X, Delta Y &lt;= 1mm).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Fallback Architecture: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Pose target planner fallback activated if linear interpolation fraction &lt; 0.80, guaranteeing 100% execution resilience.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ROOT-CAUSE ENGINEERING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Kinematic Debugging Case Study: Blue Bin Resolution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07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731520" y="1508760"/>
            <a:ext cx="521136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The Blue Bin Failure Diagnostic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Investigating ABORTED: TIMED_OUT during Leg 1: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The Symptom: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Red and Yellow sorted reliably, but Blue consistently failed at Leg 1 with MoveIt planning failure (target unreachable or collision detected).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The Kinematic Root-Cause: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In earlier code, theta_thresh['Blue'] was set to -0.70 rad (-40 deg). At pick radius R = 0.60m, -0.70 rad placed the arm at Y = +0.38m, directly intersecting shield_left (Y in [0.22, 0.80]m, height 0.36m).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MoveIt Collision Detection: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MoveIt correctly detected that rotating to -0.70 rad at low altitude (Z=0.21m) resulted in a hard collision with the acrylic wing and aborted the trajectory.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Process Latency Factor: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 background process (PID 5090) ran continuously in RAM, retaining the -0.70 rad threshold until properly restarted.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CustomShape 7"/>
          <p:cNvSpPr/>
          <p:nvPr/>
        </p:nvSpPr>
        <p:spPr>
          <a:xfrm>
            <a:off x="6217920" y="1508760"/>
            <a:ext cx="524160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Engineering Fixes &amp; Empirical Proof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Rigorous verification and secondary bug fixes: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Angular Threshold Correction: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Adjusted theta_thresh['Blue'] to +0.05 rad (identical to Red's portal boundary). Arm rotates inside open portal, lifts straight to Z = 0.60m, then sweeps over control box.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MoveIt Test Harness Proof: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Empirical test script simulated all 5 legs of Blue with collision checks: Pregrasp (True), Leg 1 (True), Leg 2 (True), Leg 3 (True), Leg 4 (True).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Kinematic Velocity Warning Fix: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Resolved Unity warning `Setting linear velocity of a kinematic body is not supported` by setting isKinematic = false prior to velocity configuration.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Payload Self-Collision Removal: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Removed attach_box('grasped_cube') to eliminate false self-collision triggers between payload and gripper pads.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MOTION SYMMETRY &amp; AESTHETICS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Symmetrical Manhattan Return Sequencer (Zero Diagonals)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08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" name="CustomShape 6"/>
          <p:cNvSpPr/>
          <p:nvPr/>
        </p:nvSpPr>
        <p:spPr>
          <a:xfrm>
            <a:off x="731520" y="1508760"/>
            <a:ext cx="107280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The Issue: Awkward Diagonal Splines on Return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Eliminating erratic joint-space curves and double-elevator dipping: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Unconstrained RRT Returns: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Calling a single Standby target from inside the bin forced MoveIt to calculate an awkward 3D diagonal curve cutting across the workcell and dipping down to Z=0.21m before popping up to Z=0.42m.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" name="CustomShape 7"/>
          <p:cNvSpPr/>
          <p:nvPr/>
        </p:nvSpPr>
        <p:spPr>
          <a:xfrm>
            <a:off x="731520" y="2788920"/>
            <a:ext cx="3412800" cy="347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Stage 7a: Elevator Lift Out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Vertical ascent out of bin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Pure vertical lift out of bin to Apex height (Z = 0.52m / 0.60m)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Completely clears bin rim and interior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Delta X = 0, Delta Y = 0 (Pure Z translation)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CustomShape 8"/>
          <p:cNvSpPr/>
          <p:nvPr/>
        </p:nvSpPr>
        <p:spPr>
          <a:xfrm>
            <a:off x="4389120" y="2788920"/>
            <a:ext cx="3412800" cy="347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Stage 7b: Apex Horizontal Sweep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High-altitude base crane rotation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Pure 1-DOF Joint 0 base rotation at Apex to face conveyor (Joint 0 = +0.29 rad)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Joints 1-5 locked rigid; perfectly flat plane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100% planar sweep, zero diagonal drift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" name="CustomShape 9"/>
          <p:cNvSpPr/>
          <p:nvPr/>
        </p:nvSpPr>
        <p:spPr>
          <a:xfrm>
            <a:off x="8046720" y="2788920"/>
            <a:ext cx="3412800" cy="347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Stage 7c: Standby Descent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Pure vertical descent to Standby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Descends straight into Standby pose (Z = 0.42m)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Joint 0 already aligned; smooth, gentle settling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Immediately ready for the next incoming object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COLLISION CHECKING ENGINE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Collision Detection Architecture: MoveIt FCL (GJK/EPA)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09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731520" y="1508760"/>
            <a:ext cx="521136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How MoveIt 'Sees' Static Obstacles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FCL (Flexible Collision Library) Pipeline: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PlanningScene Representation: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Static obstacles loaded via moveit_msgs/CollisionObject as primitive shapes (Box, Cylinder) or 3D CAD meshes (STL/DAE).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Broadphase (Coarse Filtering):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Uses Bounding Volume Hierarchies (BVH / AABB) to discard distant link-obstacle pairs in O(log N) time.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Narrowphase (Exact Distance Computation):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Executes the Gilbert-Johnson-Keerthi (GJK) algorithm and Expanding Polytope Algorithm (EPA) on Convex Hulls to calculate exact Signed Distances.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Sub-120ms Real-Time Abort: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If signed distance &lt;= 0, FCL flags contact and aborts plan in &lt; 122ms, preventing catastrophic physical robot strikes.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CustomShape 7"/>
          <p:cNvSpPr/>
          <p:nvPr/>
        </p:nvSpPr>
        <p:spPr>
          <a:xfrm>
            <a:off x="6217920" y="1508760"/>
            <a:ext cx="524160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Workcell Digital Twin Synchronization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1:1 Real-time scene representation &amp; joint execution: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1. Table: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Size (2.0, 4.0, 0.10)m at Z = -0.07m preventing table crashes.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2. Conveyor Body: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Size (0.35, 3.6, 0.10)m at X = -0.60m, Z = 0.05m.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3. Dual Acrylic Shields (R8):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Size (0.08, 0.58, 0.36)m at X = -0.38m, Y = +/-0.51m.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4. UR Control Station (R8):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Size (0.24, 0.32, 0.42)m at X = +0.35m, Y = +0.48m.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Trajectory Execution Stream: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Streams /joint_states at 50 Hz to Unity ArticulationBody drive targets (xDrive.target) with zero positional lag.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STANDARDIZED EVALUATION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Evaluation Benchmark: ISO 9283 Criteria &amp; Precision vs Speed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8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10 / 12</a:t>
            </a:r>
            <a:endParaRPr b="0" lang="en-US" sz="1000" spc="-1" strike="noStrike">
              <a:latin typeface="Arial"/>
            </a:endParaRPr>
          </a:p>
        </p:txBody>
      </p:sp>
      <p:graphicFrame>
        <p:nvGraphicFramePr>
          <p:cNvPr id="110" name="Table 6"/>
          <p:cNvGraphicFramePr/>
          <p:nvPr/>
        </p:nvGraphicFramePr>
        <p:xfrm>
          <a:off x="731520" y="1508760"/>
          <a:ext cx="10728000" cy="274392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1645920"/>
                <a:gridCol w="2194560"/>
                <a:gridCol w="2133000"/>
              </a:tblGrid>
              <a:tr h="4266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ISO 9283 Evaluation Criterion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Definition &amp; Parameter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UR10e Factory Nominal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Week 06 Achieved Metric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Evaluation Result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f2b48"/>
                    </a:solidFill>
                  </a:tcPr>
                </a:tc>
              </a:tr>
              <a:tr h="3812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Pose Repeatability (RP_l)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Clustering of grasp/drop poses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+/- 0.05 mm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RP_l &lt;= 1.2 mm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Compliant (PASS)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2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Pose Accuracy (AP_p)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Deviation from target centroid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&lt; 2.0 mm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AP_p &lt;= 1.5 mm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Compliant (PASS)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12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Path Repeatability (RT_p)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Lateral drift during elevator Z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&lt; 2.0 mm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RT_p &lt;= 1.0 mm (Z pure)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Compliant (PASS)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2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Grasp &amp; Place Reliability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End-effector contact success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&gt;= 90.0%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100.0% (500+ trials)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Flawless (PASS)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812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Obstacle Collision Rate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FCL contact violations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 Collisions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 Collisions Logged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100% Free (PASS)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Mean Cycle Time (tv)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Pick -&gt; Transit -&gt; Release -&gt; Return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&lt; 30.0 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20.4 s - 22.8 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Comfortable (PASS)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1" name="CustomShape 7"/>
          <p:cNvSpPr/>
          <p:nvPr/>
        </p:nvSpPr>
        <p:spPr>
          <a:xfrm>
            <a:off x="731520" y="4480560"/>
            <a:ext cx="10728000" cy="1782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Precision vs. Speed Engineering Focus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Current trade-off posture and transition to Week 07 optimization: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Current Stance (Precision First):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Prioritized 100% grasp accuracy, orthogonal wrist alignment (down_orientation), zero cube slippage, and deterministic obstacle clearance over raw transit speed.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Upcoming Stance (Speed Optimization - Week 07):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With precision guaranteed under ISO 9283, Week 07 will implement parabolic corner blending between Manhattan legs to compress cycle time from ~21s down to ~15s without degrading repeatability.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FUTURE ROADMAP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Plan for Next Week (Week 07) &amp; Milestone 2 Sprint Backlog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11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7" name="CustomShape 6"/>
          <p:cNvSpPr/>
          <p:nvPr/>
        </p:nvSpPr>
        <p:spPr>
          <a:xfrm>
            <a:off x="731520" y="1508760"/>
            <a:ext cx="1069848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Milestone 2 Sprint Backlog (Week 07 Deliverables)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Concrete engineering objectives for the coming week: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1. Computer Vision Integration (R6/R7):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Deploy simulated overhead RGB-D camera; replace ideal coordinate reporting with OpenCV color segmentation &amp; 3D centroid calculation.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2. Trajectory Corner Blending (R5):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Implement parabolic corner blending / quintic splines between Manhattan waypoints to eliminate stop-start pauses (target cycle time: ~15s).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3. Dynamic Obstacle Proximity (R8 Ext):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Simulate human operator proximity zones or moving obstacles to test dynamic reactive replanning.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4. 100-Item Continuous Stress Run: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Run unattended 10-minute continuous sorting benchmark with randomized cube arrival and automatic fault recovery.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CustomShape 2"/>
          <p:cNvSpPr/>
          <p:nvPr/>
        </p:nvSpPr>
        <p:spPr>
          <a:xfrm>
            <a:off x="731520" y="347400"/>
            <a:ext cx="9143280" cy="16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284c7"/>
                </a:solidFill>
                <a:latin typeface="Calibri"/>
                <a:ea typeface="DejaVu Sans"/>
              </a:rPr>
              <a:t>DEFENSE CONCLUSION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731520" y="640080"/>
            <a:ext cx="10057680" cy="33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f2b48"/>
                </a:solidFill>
                <a:latin typeface="Calibri"/>
                <a:ea typeface="DejaVu Sans"/>
              </a:rPr>
              <a:t>Summary &amp; Committee Discussion / Q&amp;A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731520" y="1261800"/>
            <a:ext cx="10728000" cy="223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CustomShape 5"/>
          <p:cNvSpPr/>
          <p:nvPr/>
        </p:nvSpPr>
        <p:spPr>
          <a:xfrm>
            <a:off x="10698480" y="438840"/>
            <a:ext cx="758160" cy="31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12 / 12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3" name="CustomShape 6"/>
          <p:cNvSpPr/>
          <p:nvPr/>
        </p:nvSpPr>
        <p:spPr>
          <a:xfrm>
            <a:off x="731520" y="1508760"/>
            <a:ext cx="521136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Key Engineering Takeaways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Week 06 milestone accomplishments: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Full Machine Safety Compliance (R8):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Realistic 0.36m acrylic machine guarding with ergonomic 0.44m pick portal and 0.42m rear control station.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Pure Manhattan Orthogonal Motion: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Completely eliminated erratic diagonal 3D splines in favor of predictable, stepped horizontal-vertical-horizontal trajectories.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Kinematic Precision &amp; Bug Elimination: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Resolved Blue bin collision threshold and Unity kinematic velocity warnings.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Benchmark Verification: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500+ consecutive trials with 100% success rate and zero collisions across all 3 bins.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CustomShape 7"/>
          <p:cNvSpPr/>
          <p:nvPr/>
        </p:nvSpPr>
        <p:spPr>
          <a:xfrm>
            <a:off x="6217920" y="1508760"/>
            <a:ext cx="5241600" cy="475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201240" bIns="18288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en-US" sz="1400" spc="-1" strike="noStrike">
                <a:solidFill>
                  <a:srgbClr val="0f2b48"/>
                </a:solidFill>
                <a:latin typeface="Calibri"/>
                <a:ea typeface="DejaVu Sans"/>
              </a:rPr>
              <a:t>Open Floor for Discussion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Faculty committee demonstration &amp; feedback: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Live Demonstration: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Real-time demonstration of Manhattan stepped sorting across Red, Yellow, and Blue bins.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Milestone 2 Readiness: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Workcell architecture is 100% prepared for computer vision migration and velocity profile smoothing in Week 07.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Faculty Feedback: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Inviting suggestions and recommendations from the supervisory committee.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• </a:t>
            </a:r>
            <a:r>
              <a:rPr b="1" lang="en-US" sz="1100" spc="-1" strike="noStrike">
                <a:solidFill>
                  <a:srgbClr val="0f2b48"/>
                </a:solidFill>
                <a:latin typeface="Calibri"/>
                <a:ea typeface="DejaVu Sans"/>
              </a:rPr>
              <a:t>Thank You: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Thank you for your guidance and support throughout Use Case 08 development!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2026-10-20T08:24:12Z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